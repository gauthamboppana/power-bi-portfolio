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int of View" id="{ea6ad86e-1bf6-be5b-0ce2-40d3ea03ba3d}">
          <p14:sldIdLst>
            <p14:sldId id="256"/>
            <p14:sldId id="257"/>
            <p14:sldId id="258"/>
            <p14:sldId id="259"/>
            <p14:sldId id="260"/>
          </p14:sldIdLst>
        </p14:section>
        <p14:section name="Economics" id="{521c203e-dcb4-7ed4-0468-433a51ee3868}">
          <p14:sldIdLst>
            <p14:sldId id="261"/>
            <p14:sldId id="262"/>
            <p14:sldId id="263"/>
            <p14:sldId id="264"/>
            <p14:sldId id="265"/>
          </p14:sldIdLst>
        </p14:section>
        <p14:section name="Recommendation" id="{27dc6ded-2221-401a-51f1-2997993973fc}">
          <p14:sldIdLst>
            <p14:sldId id="266"/>
            <p14:sldId id="267"/>
          </p14:sldIdLst>
        </p14:section>
        <p14:section name="Appendix" id="{6a1f1d2a-3e3f-9709-a0a2-92ece567e31b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Snowflake on AWS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Power BI - F64 Reserved</c:v>
                  </c:pt>
                  <c:pt idx="1">
                    <c:v>Power BI - Pro</c:v>
                  </c:pt>
                  <c:pt idx="2">
                    <c:v>Tableau Cloud</c:v>
                  </c:pt>
                  <c:pt idx="3">
                    <c:v>Tableau Server</c:v>
                  </c:pt>
                  <c:pt idx="4">
                    <c:v>QuickSight Standard</c:v>
                  </c:pt>
                  <c:pt idx="5">
                    <c:v>QuickSight Author Pro (AI)</c:v>
                  </c:pt>
                  <c:pt idx="6">
                    <c:v>Tableau+ (AI)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570</c:v>
                </c:pt>
                <c:pt idx="1">
                  <c:v>690</c:v>
                </c:pt>
                <c:pt idx="2">
                  <c:v>1017</c:v>
                </c:pt>
                <c:pt idx="3">
                  <c:v>1167</c:v>
                </c:pt>
                <c:pt idx="4">
                  <c:v>324</c:v>
                </c:pt>
                <c:pt idx="5">
                  <c:v>459</c:v>
                </c:pt>
                <c:pt idx="6">
                  <c:v>1899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Snowflake on Azure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Power BI - F64 Reserved</c:v>
                  </c:pt>
                  <c:pt idx="1">
                    <c:v>Power BI - Pro</c:v>
                  </c:pt>
                  <c:pt idx="2">
                    <c:v>Tableau Cloud</c:v>
                  </c:pt>
                  <c:pt idx="3">
                    <c:v>Tableau Server</c:v>
                  </c:pt>
                  <c:pt idx="4">
                    <c:v>QuickSight Standard</c:v>
                  </c:pt>
                  <c:pt idx="5">
                    <c:v>QuickSight Author Pro (AI)</c:v>
                  </c:pt>
                  <c:pt idx="6">
                    <c:v>Tableau+ (AI)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459</c:v>
                </c:pt>
                <c:pt idx="1">
                  <c:v>579</c:v>
                </c:pt>
                <c:pt idx="2">
                  <c:v>1078</c:v>
                </c:pt>
                <c:pt idx="3">
                  <c:v>1167</c:v>
                </c:pt>
                <c:pt idx="4">
                  <c:v>417</c:v>
                </c:pt>
                <c:pt idx="5">
                  <c:v>552</c:v>
                </c:pt>
                <c:pt idx="6">
                  <c:v>1960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65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65D"/>
                </a:solidFill>
                <a:latin typeface="+mn-lt"/>
              </a:rPr>
              <a:t>Annual licensing at baseline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licensing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$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Power BI Pro - all</c:v>
                  </c:pt>
                  <c:pt idx="1">
                    <c:v>Power BI PPU - all</c:v>
                  </c:pt>
                  <c:pt idx="2">
                    <c:v>Fabric F64 Reserved + Pro</c:v>
                  </c:pt>
                  <c:pt idx="3">
                    <c:v>Fabric F64 PAYG + Pro</c:v>
                  </c:pt>
                  <c:pt idx="4">
                    <c:v>Tableau Standard</c:v>
                  </c:pt>
                  <c:pt idx="5">
                    <c:v>Tableau+ (floor)</c:v>
                  </c:pt>
                  <c:pt idx="6">
                    <c:v>QuickSight Standard</c:v>
                  </c:pt>
                  <c:pt idx="7">
                    <c:v>QuickSight Author Pro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105</c:v>
                </c:pt>
                <c:pt idx="1">
                  <c:v>180</c:v>
                </c:pt>
                <c:pt idx="2">
                  <c:v>81</c:v>
                </c:pt>
                <c:pt idx="3">
                  <c:v>121.9</c:v>
                </c:pt>
                <c:pt idx="4">
                  <c:v>192.6</c:v>
                </c:pt>
                <c:pt idx="5">
                  <c:v>369</c:v>
                </c:pt>
                <c:pt idx="6">
                  <c:v>54</c:v>
                </c:pt>
                <c:pt idx="7">
                  <c:v>81</c:v>
                </c:pt>
              </c:numCache>
            </c:numRef>
          </c:val>
        </c:ser>
        <c:dLbls>
          <c:numFmt formatCode="$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IDB Phase 2  |  BI Platform Point of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6751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Confidential  |  23 October 2026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7365D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B7280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image" descr="/home/claude/work/pp/img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899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78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DD3FC"/>
                </a:solidFill>
              </a:rPr>
              <a:t>ENTERPRISE BI PLATFORM STRATEGY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IDB Phase 2: BI Platform Point of View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Power BI vs Tableau vs Amazon QuickSight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747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conditional platform recommendation aligned to the Snowflake hosting decision, enterprise reporting needs, governance and five-year total cost of ownership.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Prepared by Ascendion  |  23 October 2026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Select the BI platform as part of the target cloud and data architecture, not as an isolated product decision.</a:t>
            </a:r>
            <a:endParaRPr lang="en-US" sz="1400" dirty="0"/>
          </a:p>
        </p:txBody>
      </p:sp>
      <p:sp>
        <p:nvSpPr>
          <p:cNvPr id="4" name="card If Snowflake is on AWS"/>
          <p:cNvSpPr/>
          <p:nvPr/>
        </p:nvSpPr>
        <p:spPr>
          <a:xfrm>
            <a:off x="45720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367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Snowflake is on AWS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QuickSight leads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Strongest native alignment and lowest five-year TCO ($324K). Tableau Cloud is the cloud-neutral alternative with no cross-cloud premium. Power BI remains viable with cross-cloud controls.</a:t>
            </a:r>
            <a:endParaRPr lang="en-US" sz="1300" dirty="0"/>
          </a:p>
        </p:txBody>
      </p:sp>
      <p:sp>
        <p:nvSpPr>
          <p:cNvPr id="8" name="card If Snowflake is on Azure"/>
          <p:cNvSpPr/>
          <p:nvPr/>
        </p:nvSpPr>
        <p:spPr>
          <a:xfrm>
            <a:off x="425196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5312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Snowflake is on Azure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Power BI leads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M365, Entra ID and Fabric alignment - a strategic lead: Fabric F64 Reserved ($459K) is $42K above QuickSight on cost. Tableau remains viable.</a:t>
            </a:r>
            <a:endParaRPr lang="en-US" sz="1300" dirty="0"/>
          </a:p>
        </p:txBody>
      </p:sp>
      <p:sp>
        <p:nvSpPr>
          <p:cNvPr id="12" name="card If cloud is unresolved"/>
          <p:cNvSpPr/>
          <p:nvPr/>
        </p:nvSpPr>
        <p:spPr>
          <a:xfrm>
            <a:off x="804672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163677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964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cloud is unresolved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Tableau benchmark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Keep Phase 2 cloud-neutral and use Tableau as the benchmark. Defer the final standard until the cloud, FIS-to-Snowflake readiness and operating model are confirmed.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$324K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Lowest 5-year TCO - QuickSight with Snowflake on AWS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$459K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Power BI Fabric F64 Reserved with Snowflake on Azure (QuickSight $417K)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$22.2K/yr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Power BI premium when Snowflake is on AWS rather than Azure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4160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803D"/>
                </a:solidFill>
              </a:rPr>
              <a:t>$0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Tableau Cloud premium with Snowflake on AWS (it runs on AWS)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Tableau is the neutral benchmark while hosting is open; QuickSight leads on AWS, Power BI on Azure.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291072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Rankings weigh architecture, capability, skills and cost. On five-year cost alone, QuickSight is lowest in both clouds and Power BI is lower than Tableau.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Why the decision is conditional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Five transformation programmes are moving in parallel; the BI choice depends on all of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On-premises today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64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Phase 2 cannot assume cloud readiness.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50008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04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cloud unresolved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AWS is preferred; Azure remains a multi-cloud option.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45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FIS migration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47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Dataset completeness, reconciliation and refresh SLA remain open.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032504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867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Reporting consolidation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2885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Cognos, Tableau, Power BI and Crystal create duplicated support; Qlik has been retired.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873752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828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Operating model transition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129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Platform ownership and L1/L2/L3 boundaries must be defined.</a:t>
            </a:r>
            <a:endParaRPr lang="en-US" sz="1300" dirty="0"/>
          </a:p>
        </p:txBody>
      </p:sp>
      <p:pic>
        <p:nvPicPr>
          <p:cNvPr id="24" name="context image" descr="/home/claude/work/pp/im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63040"/>
            <a:ext cx="5422392" cy="2706624"/>
          </a:xfrm>
          <a:prstGeom prst="rect">
            <a:avLst/>
          </a:prstGeom>
        </p:spPr>
      </p:pic>
      <p:sp>
        <p:nvSpPr>
          <p:cNvPr id="25" name="card What IDB has told us"/>
          <p:cNvSpPr/>
          <p:nvPr/>
        </p:nvSpPr>
        <p:spPr>
          <a:xfrm>
            <a:off x="6309360" y="4343400"/>
            <a:ext cx="5422392" cy="1280160"/>
          </a:xfrm>
          <a:prstGeom prst="roundRect">
            <a:avLst>
              <a:gd name="adj" fmla="val 571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510528" y="4471416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What IDB has told us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510528" y="4892040"/>
            <a:ext cx="5056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Saravanan: Power BI may not suit IDB if data must move from AWS to Azure; standardising on QuickSight could be considered. Tableau is in use, Cognos serves LoanIQ and Actimize, Crystal remains.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platform decision must follow evidence, not cloud preference alone.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Capability comparison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All three are viable. Differentiation sits in semantic governance, visual exploration and cloud-native operations.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Power BI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Tableau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QuickSight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Enterprise semantic layer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Ad hoc visual exploration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Pixel-perfect reporting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Data preparation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Governance and lineage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Conversational / AI analytics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M365 integration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AWS-native integration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Deployment portability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Operational overhead (5 = lowest)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Skills availability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5" name="card Power BI"/>
          <p:cNvSpPr/>
          <p:nvPr/>
        </p:nvSpPr>
        <p:spPr>
          <a:xfrm>
            <a:off x="7498080" y="1417320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9924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545336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Power BI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99248" y="19659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Strongest governed semantic layer (DAX), paginated reporting and M365 / Copilot integration.</a:t>
            </a:r>
            <a:endParaRPr lang="en-US" sz="1300" dirty="0"/>
          </a:p>
        </p:txBody>
      </p:sp>
      <p:sp>
        <p:nvSpPr>
          <p:cNvPr id="9" name="card Tableau"/>
          <p:cNvSpPr/>
          <p:nvPr/>
        </p:nvSpPr>
        <p:spPr>
          <a:xfrm>
            <a:off x="7498080" y="2852928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99248" y="307238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980944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Tableau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99248" y="3401568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visual exploration and cloud-neutral deployment; reuses IDB's existing Tableau footprint.</a:t>
            </a:r>
            <a:endParaRPr lang="en-US" sz="1300" dirty="0"/>
          </a:p>
        </p:txBody>
      </p:sp>
      <p:sp>
        <p:nvSpPr>
          <p:cNvPr id="13" name="card Amazon QuickSight"/>
          <p:cNvSpPr/>
          <p:nvPr/>
        </p:nvSpPr>
        <p:spPr>
          <a:xfrm>
            <a:off x="7498080" y="4288536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99248" y="45079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416552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Amazon QuickSight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99248" y="4837176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AWS-native fit, serverless operations and lowest licence cost; weaker semantic modelling.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5 = leading, 4 = strong, 3 = adequate with design considerations. Validate Cognos replacement, security and concurrency with IDB workloads.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Target architecture position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Keep the serving layer open and place interactive analytics close to the authoritative data platform.</a:t>
            </a:r>
            <a:endParaRPr lang="en-US" sz="1400" dirty="0"/>
          </a:p>
        </p:txBody>
      </p:sp>
      <p:pic>
        <p:nvPicPr>
          <p:cNvPr id="4" name="architecture image" descr="/home/claude/work/pp/img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2834640"/>
          </a:xfrm>
          <a:prstGeom prst="rect">
            <a:avLst/>
          </a:prstGeom>
        </p:spPr>
      </p:pic>
      <p:sp>
        <p:nvSpPr>
          <p:cNvPr id="5" name="card Clarification"/>
          <p:cNvSpPr/>
          <p:nvPr/>
        </p:nvSpPr>
        <p:spPr>
          <a:xfrm>
            <a:off x="457200" y="443484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FF3CD"/>
          </a:solidFill>
          <a:ln w="9525">
            <a:solidFill>
              <a:srgbClr val="F2D27A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58368" y="4562856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Clarification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498348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Power BI does not require Snowflake data to move to Azure. The issue is cross-cloud transfer, latency, security and operating cost - not database relocation.</a:t>
            </a:r>
            <a:endParaRPr lang="en-US" sz="1200" dirty="0"/>
          </a:p>
        </p:txBody>
      </p:sp>
      <p:sp>
        <p:nvSpPr>
          <p:cNvPr id="8" name="card Power BI"/>
          <p:cNvSpPr/>
          <p:nvPr/>
        </p:nvSpPr>
        <p:spPr>
          <a:xfrm>
            <a:off x="6400800" y="141732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0196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154533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Power BI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01968" y="196596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Power BI service (Azure) reads AWS Snowflake - cross-cloud; Import-first and gateway design required.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same-cloud; strongest Entra / M365 / Fabric alignment.</a:t>
            </a:r>
            <a:endParaRPr lang="en-US" sz="1150" dirty="0"/>
          </a:p>
        </p:txBody>
      </p:sp>
      <p:sp>
        <p:nvSpPr>
          <p:cNvPr id="12" name="card Tableau"/>
          <p:cNvSpPr/>
          <p:nvPr/>
        </p:nvSpPr>
        <p:spPr>
          <a:xfrm>
            <a:off x="6400800" y="283464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01968" y="30540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296265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Tableau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338328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Tableau Cloud runs on Hyperforce on AWS - same-cloud when regions match.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Tableau Cloud is cross-cloud; Tableau Server on Azure avoids it.</a:t>
            </a:r>
            <a:endParaRPr lang="en-US" sz="1150" dirty="0"/>
          </a:p>
        </p:txBody>
      </p:sp>
      <p:sp>
        <p:nvSpPr>
          <p:cNvPr id="16" name="card QuickSight"/>
          <p:cNvSpPr/>
          <p:nvPr/>
        </p:nvSpPr>
        <p:spPr>
          <a:xfrm>
            <a:off x="6400800" y="425196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01968" y="44714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437997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QuickSight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480060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strongest native fit - IAM, VPC and regional alignment.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cross-cloud access removes QuickSight's main architectural advantage.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Economics and architecture premium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Five-year TCO, scenarios, the cross-cloud premium and AI licensing - all figures from the IDB BI Cost Simulator v3.2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Five-year TCO depends on where Snowflake is hosted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Baseline: 500 consumers, 100 developers, 25 explorers, 5 TB/month; licensing + architecture x 5 years.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2237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Snowflake on AWS"/>
          <p:cNvSpPr/>
          <p:nvPr/>
        </p:nvSpPr>
        <p:spPr>
          <a:xfrm>
            <a:off x="7955280" y="1371600"/>
            <a:ext cx="3776472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56448" y="1591056"/>
            <a:ext cx="201168" cy="201168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499616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on AWS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56448" y="1920240"/>
            <a:ext cx="3410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QuickSight $324K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F64 Reserved $570K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Pro $690K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Tableau Cloud $1.02M</a:t>
            </a:r>
            <a:endParaRPr lang="en-US" sz="1300" dirty="0"/>
          </a:p>
        </p:txBody>
      </p:sp>
      <p:sp>
        <p:nvSpPr>
          <p:cNvPr id="9" name="card Snowflake on Azure"/>
          <p:cNvSpPr/>
          <p:nvPr/>
        </p:nvSpPr>
        <p:spPr>
          <a:xfrm>
            <a:off x="7955280" y="3520440"/>
            <a:ext cx="3776472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156448" y="373989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3648456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on Azure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156448" y="4069080"/>
            <a:ext cx="3410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QuickSight $417K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F64 Reserved $459K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Pro $579K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Tableau Cloud $1.08M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Fabric F64 Reserved saves $119,840 over five years vs Pro at 500 consumers. PPU is never the lowest Power BI option.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Total cost by scenario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Five-year TCO for the leading configurations at three IDB adoption scales (all 20 configurations in the appendix).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325880"/>
                <a:gridCol w="1325880"/>
                <a:gridCol w="1325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S1 Small (100 consumers)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S2 Medium (250)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S3 Large (500)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7432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$170,400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$352,800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$690,000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$251,400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$544,800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$1,065,000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$386,560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$442,960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$570,160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$238,500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$522,000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$1,017,000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$388,500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$672,000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$1,167,000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$79,200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$167,400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$324,000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$290,400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$579,000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$205,200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$482,400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$954,000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$340,360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$380,560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$459,160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$250,650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$546,300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$1,077,750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$388,500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$672,000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$1,167,000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$97,830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$204,660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$417,150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card What the scenarios show"/>
          <p:cNvSpPr/>
          <p:nvPr/>
        </p:nvSpPr>
        <p:spPr>
          <a:xfrm>
            <a:off x="8412480" y="137160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13648" y="149961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What the scenarios show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13648" y="1920240"/>
            <a:ext cx="2953512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QuickSight is the lowest-cost option in both clouds at every scale.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On Azure, QuickSight stays ahead of Power BI F64 Reserved only up to ~7 TB/month of BI traffic.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Within Power BI, F64 Reserved beats Pro above ~357 consumers (S3).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Scenario definitions: S1 100/25/10 users, 1 TB; S2 250/50/20, 2 TB; S3 500/100/25, 5 TB (consumers/developers/explorers).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Green = lowest in cloud and scenario. Gold = recommended Power BI model.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Cross-cloud premium: Snowflake on AWS vs Azure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Annual architecture cost for each platform in each placement; licensing is unchanged by placement.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$22.2K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Power BI annual premium with Snowflake on AWS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$111.0K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Power BI five-year premium (19.5% of F64 Reserved TCO)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</a:rPr>
              <a:t>$12.2K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Tableau Cloud annual premium - only if Snowflake is on Azure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1371600"/>
          <a:ext cx="871423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1005840"/>
                <a:gridCol w="1051560"/>
                <a:gridCol w="1051560"/>
                <a:gridCol w="1051560"/>
                <a:gridCol w="1143000"/>
                <a:gridCol w="103327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Snowflake on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Transfer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Extra compute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Gateway /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 Snowflake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architecture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AWS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$22,200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AWS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$4,050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$8,100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$22,950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$12,150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AWS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$40,800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$40,800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AWS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$6,210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$12,420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$29,430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$18,630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017520" y="5349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Rose = cross-cloud. Tableau Server sits beside Snowflake, so no premium; QuickSight carries $18.6K/yr with Snowflake on Azure. Cross-cloud setups also need additional support effort, not costed here.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Transfer line = AWS-side gateway egress (Snowflake does not bill driver query results) - confirm in PoV.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Licensing and AI considerations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AI value is not included uniformly in base BI licences; price the AI tier for the users who need it.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6692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Annual AI uplift vs standard tier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3309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44752"/>
                <a:gridCol w="850392"/>
                <a:gridCol w="850392"/>
                <a:gridCol w="85953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S1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S3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Copilot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Paid Fabric F2+ / P1+ capacity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Tableau+ (AI, Agentforce)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Quote-only bundle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+$39,360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+$90,720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+$176,400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Author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$40 vs $24 + $250/mo fee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+$9,720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+$16,440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+$27,000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7" name="card Points to note"/>
          <p:cNvSpPr/>
          <p:nvPr/>
        </p:nvSpPr>
        <p:spPr>
          <a:xfrm>
            <a:off x="6400800" y="3703320"/>
            <a:ext cx="533095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601968" y="3831336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Points to note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601968" y="4251960"/>
            <a:ext cx="49651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F64 Reserved beats Pro above ~357 consumers; F64 PAYG needs ~601.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Premium P1 is legacy - Microsoft no longer sells new P SKUs.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Tableau+ is quote-only; Enterprise list ($115 / $70 / $35) used as a floor.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Copilot consumes F64 capacity units - size it in the PoV.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Fabric Mirroring is an optimisation, not a selection criterion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Use mirroring only when measured savings and broader Fabric value exceed incremental platform and governance cost.</a:t>
            </a:r>
            <a:endParaRPr lang="en-US" sz="1400" dirty="0"/>
          </a:p>
        </p:txBody>
      </p:sp>
      <p:sp>
        <p:nvSpPr>
          <p:cNvPr id="4" name="card Optimise Import"/>
          <p:cNvSpPr/>
          <p:nvPr/>
        </p:nvSpPr>
        <p:spPr>
          <a:xfrm>
            <a:off x="457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Optimise Import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Curated models, aggregations, incremental refresh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card Selective DirectQuery"/>
          <p:cNvSpPr/>
          <p:nvPr/>
        </p:nvSpPr>
        <p:spPr>
          <a:xfrm>
            <a:off x="2743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44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Selective DirectQuery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Freshness-sensitive detail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card Measure workload"/>
          <p:cNvSpPr/>
          <p:nvPr/>
        </p:nvSpPr>
        <p:spPr>
          <a:xfrm>
            <a:off x="5029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30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Measure workload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Snowflake credits, egress, latency, concurrency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card Evaluate mirroring"/>
          <p:cNvSpPr/>
          <p:nvPr/>
        </p:nvSpPr>
        <p:spPr>
          <a:xfrm>
            <a:off x="7315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E0F2F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16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Evaluate mirroring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High reuse + broader Fabric adoption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card Rebuild controls"/>
          <p:cNvSpPr/>
          <p:nvPr/>
        </p:nvSpPr>
        <p:spPr>
          <a:xfrm>
            <a:off x="9601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02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Rebuild controls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RLS/CLS, monitoring, reseed management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424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24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card Potential value"/>
          <p:cNvSpPr/>
          <p:nvPr/>
        </p:nvSpPr>
        <p:spPr>
          <a:xfrm>
            <a:off x="457200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" y="3694176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Potential value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Fewer repetitive Snowflake BI queries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Enables Fabric BI, engineering and data science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Direct Lake performance</a:t>
            </a:r>
            <a:endParaRPr lang="en-US" sz="1200" dirty="0"/>
          </a:p>
        </p:txBody>
      </p:sp>
      <p:sp>
        <p:nvSpPr>
          <p:cNvPr id="33" name="card Material constraints"/>
          <p:cNvSpPr/>
          <p:nvPr/>
        </p:nvSpPr>
        <p:spPr>
          <a:xfrm>
            <a:off x="4288536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9704" y="3694176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91456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Material constraints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489704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Second governed copy; 1,000-table limit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Snowflake RLS/CLS do not replicate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Views sync every 12 hours; reseed risk</a:t>
            </a:r>
            <a:endParaRPr lang="en-US" sz="1200" dirty="0"/>
          </a:p>
        </p:txBody>
      </p:sp>
      <p:sp>
        <p:nvSpPr>
          <p:cNvPr id="37" name="card IDB position"/>
          <p:cNvSpPr/>
          <p:nvPr/>
        </p:nvSpPr>
        <p:spPr>
          <a:xfrm>
            <a:off x="8119872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21040" y="3694176"/>
            <a:ext cx="201168" cy="20116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22792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IDB position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Relevant for the 500-consumer / 5 TB case only if Fabric is adopted strategically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Start with optimised Import / composite models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with optimised Import/composite models; mirror only after workload evidence supports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Decision gates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Confirm all five gates before standardising on a BI platform.</a:t>
            </a:r>
            <a:endParaRPr lang="en-US" sz="1400" dirty="0"/>
          </a:p>
        </p:txBody>
      </p:sp>
      <p:sp>
        <p:nvSpPr>
          <p:cNvPr id="4" name="card Cloud"/>
          <p:cNvSpPr/>
          <p:nvPr/>
        </p:nvSpPr>
        <p:spPr>
          <a:xfrm>
            <a:off x="457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Cloud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Confirm AWS, Azure or multi-cloud direction and expected readiness.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card Data"/>
          <p:cNvSpPr/>
          <p:nvPr/>
        </p:nvSpPr>
        <p:spPr>
          <a:xfrm>
            <a:off x="2743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44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Data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Confirm the FIS Snowflake catalogue, history, grain, reconciliation and refresh SLA.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20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card Security"/>
          <p:cNvSpPr/>
          <p:nvPr/>
        </p:nvSpPr>
        <p:spPr>
          <a:xfrm>
            <a:off x="5029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30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Security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Confirm identity, private connectivity, residency, audit and regulatory requirements.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card Commercial"/>
          <p:cNvSpPr/>
          <p:nvPr/>
        </p:nvSpPr>
        <p:spPr>
          <a:xfrm>
            <a:off x="7315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16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Commercial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Obtain comparable five-year vendor and operating-cost scenarios.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2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card Fit"/>
          <p:cNvSpPr/>
          <p:nvPr/>
        </p:nvSpPr>
        <p:spPr>
          <a:xfrm>
            <a:off x="9601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02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Fit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Confirm functional, non-functional and operating-model viability against representative IDB workloads.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78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78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Replace list prices with Microsoft, Salesforce and AWS quotes in the Cost Simulator before the final decision.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Detailed calculations, assumptions and validated sources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A1. Cost model and assumptions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All figures are planning estimates from public list prices; replace with IDB quotes and PoV measurements.</a:t>
            </a:r>
            <a:endParaRPr lang="en-US" sz="1400" dirty="0"/>
          </a:p>
        </p:txBody>
      </p:sp>
      <p:sp>
        <p:nvSpPr>
          <p:cNvPr id="4" name="card Cost model"/>
          <p:cNvSpPr/>
          <p:nvPr/>
        </p:nvSpPr>
        <p:spPr>
          <a:xfrm>
            <a:off x="457200" y="1371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EF5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499616"/>
            <a:ext cx="10936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Cost 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20240"/>
            <a:ext cx="10908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Annual total = BI licences or capacity + architecture (base Snowflake + cross-cloud transfer and extra compute + gateway / server infrastructure).   Five-year TCO = 5 x annual total. Migration, training, base operations and cross-cloud support effort are excluded.</a:t>
            </a:r>
            <a:endParaRPr lang="en-US" sz="1200" dirty="0"/>
          </a:p>
        </p:txBody>
      </p:sp>
      <p:sp>
        <p:nvSpPr>
          <p:cNvPr id="7" name="card Workload and licensing"/>
          <p:cNvSpPr/>
          <p:nvPr/>
        </p:nvSpPr>
        <p:spPr>
          <a:xfrm>
            <a:off x="457200" y="25146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" y="2642616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Workload and licensing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63240"/>
            <a:ext cx="51663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Baseline: 500 consumers, 100 developers, 25 explorers, 100 peak concurrent, 5 TB/month of BI results (~170 GB/day).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Explorers licensed as author-class users on every platform (like-for-like).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Scenarios: S1 100/25/10 users, 1 TB; S2 250/50/20, 2 TB; S3 500/100/25, 5 TB.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Cross-cloud setups need additional support effort (connectivity, gateway, security, incident triage) - not costed; estimate with IDB.</a:t>
            </a:r>
            <a:endParaRPr lang="en-US" sz="1200" dirty="0"/>
          </a:p>
        </p:txBody>
      </p:sp>
      <p:sp>
        <p:nvSpPr>
          <p:cNvPr id="10" name="card Volume-driven architecture (TB/month is the driver)"/>
          <p:cNvSpPr/>
          <p:nvPr/>
        </p:nvSpPr>
        <p:spPr>
          <a:xfrm>
            <a:off x="6199632" y="25146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642616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Volume-driven architecture (TB/month is the driver)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063240"/>
            <a:ext cx="51663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Base Snowflake: Small warehouse (2 credits/hr) x 1 hr/day per TB x 30 days x $3 = $10,800/yr at 5 TB, every tool.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Transfer: TB x 1,000 GB x 12 x $0.09/GB x share crossing clouds = $5,400/yr for Power BI at 5 TB.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Extra compute: cross-cloud doubles warehouse time = $10,800/yr for Power BI at 5 TB.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Share crossing clouds: Power BI 100%, Tableau Cloud on Azure 75%, QuickSight on Azure 115%, Tableau Cloud on AWS 0%.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Infrastructure: Power BI AWS gateway $6K/yr; Tableau Server $30K/yr.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A2. Validated list prices (23 October 2026)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Checked against vendor pricing pages; Tableau+ is quote-only.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20040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 used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Pro / PPU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$14 / $24 per user per month, paid yearly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microsoft.com - Power BI 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Fabric F64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$8,409.60/mo PAYG; $5,002.67/mo 1-yr reserved (US)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azure.microsoft.com - Fabric 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Premium P1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$4,995/mo; no new P SKU sales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learn.microsoft.com - Premium migration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Legacy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Copilot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Paid Fabric F2+ or P1+ capacity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learn.microsoft.com - Copilot enablement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Standard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$75 Creator / $42 Explorer / $15 Viewer (Cloud and Server)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tableau.com/pricing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Enterprise / Tableau+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$115 / $70 / $35 Enterprise used as Tableau+ floor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tableau.com/pricing/cloud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Quote-only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hosting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Salesforce Hyperforce on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 migration blog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Amazon QuickSight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$24 Author / $40 Author Pro / $3 Reader / $20 Reader Pro / $250 account fee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aws.amazon.com/quick/quicksight/pricing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 credits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 Standard / $3 Enterprise / $4 Business Critical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snowflake.com pricing guide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 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$90/TB to other cloud; no egress on driver query results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docs.snowflake.com - data 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A3. Licensing breakdown at baseline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100 developers + 25 explorers + 500 consumers; annual USD.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05840"/>
                <a:gridCol w="1005840"/>
                <a:gridCol w="1005840"/>
                <a:gridCol w="1234440"/>
                <a:gridCol w="1143000"/>
                <a:gridCol w="27706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Licensing model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Developers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Explorers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Consumers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Capacity / account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total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Pro - all named users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Shared capacity; no Copilot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PPU - all named users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$28,800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$144,000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Premium features per user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 authors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$60,032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Recommended Power BI model at 500 consumers; Copilot uses capacity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PAYG + Pro authors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$100,915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Flexible, ~68% dearer than reserved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Premium P1 + Pro authors (legacy)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$59,940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Legacy reference - no new P SKU purchases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Standard role-based (Cloud or Server)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$12,600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Same list price for Cloud and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Tableau+ AI tier (planning floor)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$138,000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$21,000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$210,000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Quote-only; Enterprise list used as floor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Standard -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$28,800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Explorers licensed as Authors (like-for-like)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Author Pro + Reader (AI)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Generative BI for authors + $250/month account fee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full Pro - Author Pro + Reader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$183,000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Reference only - not in TCO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Break-evens: F64 Reserved vs Pro ~357 consumers; F64 PAYG vs Pro ~601; PPU vs F64 Reserved + Pro ~281 named users.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A4. Architecture cost derivation (baseline, 5 TB/month)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Transfer = TB x 1,000 x 12 x $/GB x share; Snowflake = 2 credits/hr x hours/day x 30 x 12 x $3.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1280160"/>
                <a:gridCol w="1280160"/>
                <a:gridCol w="1280160"/>
                <a:gridCol w="1280160"/>
                <a:gridCol w="130759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Alignment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Extra compute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Gateway / server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Snowflake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Annual total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$5,400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 (AWS)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$4,050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$8,100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$22,950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Server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$40,800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Server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$40,800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$6,210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$12,420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$29,430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65D"/>
                </a:solidFill>
              </a:rPr>
              <a:t>Cross-cloud premium = cross-cloud row minus same-cloud row: Power BI $22,200; Tableau Cloud $12,150 (Snowflake on Azure); QuickSight $18,630 (Snowflake on Azure); Tableau Server $0. Support effort not included.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A5. Five-year TCO - all 20 configurations (baseline)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Gold = recommended Power BI model; rose = AI tiers. Rank across all 20.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31720"/>
                <a:gridCol w="1143000"/>
                <a:gridCol w="1188720"/>
                <a:gridCol w="1005840"/>
                <a:gridCol w="1143000"/>
                <a:gridCol w="1078992"/>
                <a:gridCol w="54864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architecture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total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5-year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$138,000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$690,000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$138,000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$1,065,000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$114,032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$570,160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$114,032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$154,915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$774,576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$154,915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$113,940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$569,700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$113,940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$203,400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$1,017,000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$203,400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$379,800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$1,899,000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$379,800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$1,167,000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$324,000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$459,000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$579,000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$91,832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$459,160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$91,832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$132,715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$663,576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$132,715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$91,740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$458,700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$91,740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$215,550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$1,077,750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$215,550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$391,950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$1,959,750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$391,950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$1,167,000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$83,430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$417,150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$83,430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$110,430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$552,150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$110,430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A6. Total cost by scenario - all 20 configurations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Annual total = licensing + architecture; 5-yr TCO = annual total x 5.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87752"/>
                <a:gridCol w="1170432"/>
                <a:gridCol w="1170432"/>
                <a:gridCol w="1170432"/>
                <a:gridCol w="1170432"/>
                <a:gridCol w="1170432"/>
                <a:gridCol w="118872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$34,080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$170,400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$352,800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$138,000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$690,000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$251,400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$108,960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$544,800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$1,065,000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$77,312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$386,560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$88,592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$442,960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$114,032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$570,160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$118,195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$590,976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$129,475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$647,376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$154,915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$774,576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$77,220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$386,100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$88,500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$442,500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$113,940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$569,700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$47,700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$238,500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$104,400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$522,000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$203,400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$1,017,000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$87,060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$435,300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$195,120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$975,600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$379,800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$1,899,000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$77,700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$388,500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$134,400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$672,000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$1,167,000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$15,840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$79,200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$33,480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$167,400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$324,000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$127,800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$49,920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$249,600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$459,000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$24,840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$124,200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$58,080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$290,400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$579,000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$41,040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$205,200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$96,480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$482,400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$68,072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$340,360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$76,112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$380,560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$91,832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$459,160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$108,955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$544,776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$116,995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$584,976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$132,715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$663,576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$67,980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$339,900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$76,020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$380,100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$91,740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$458,700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$50,130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$250,650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$109,260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$546,300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$215,550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$1,077,750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$89,490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$447,450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$199,980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$999,900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$391,950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$1,959,750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$77,700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$388,500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$134,400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$672,000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$1,167,000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$19,566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$97,830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$40,932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$204,660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$83,430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$417,150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$29,286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$146,430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$57,372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$286,860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$110,430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$552,150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A7. Scenario breakdown - licensing vs architecture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S1 = 100 / 25 / 10 users, 1 TB; S2 = 250 / 50 / 20, 2 TB; S3 = 500 / 100 / 25, 5 TB.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87752"/>
                <a:gridCol w="1170432"/>
                <a:gridCol w="1170432"/>
                <a:gridCol w="1170432"/>
                <a:gridCol w="1170432"/>
                <a:gridCol w="1170432"/>
                <a:gridCol w="118872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architecture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architecture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architecture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$53,760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$38,880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$65,912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$71,792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$106,795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$112,675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$65,820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$71,700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$84,900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$53,760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$38,880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$65,912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$71,792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$106,795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$112,675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$65,820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$71,700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$4,590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$9,180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$84,900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$4,590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$9,180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$5,886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$11,772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$5,886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$11,772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$29,430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A8. Cross-cloud premium calculation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Premium = cross-cloud annual architecture minus same-cloud, at 5 TB/month; inputs editable in the Cost Simulator.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42232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Basis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Power BI (AWS)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Tableau Cloud (Azure)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QuickSight (Azure)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TB x 1,000 x 12 x $0.09/GB x share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$5,400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$4,050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$6,210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Extra Snowflake compute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2 credits/hr x (TB x 1 hr x 100%) x 30 x 12 x $3 x share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$8,100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$12,420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Gateway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Two-node EC2 gateway (Power BI)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Annual premium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Share: Power BI 100%, Tableau Cloud 75%, QuickSight 115%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$22,200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$12,150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$18,630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Billing note: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Snowflake does not apply egress charges when a client or driver retrieves query results across regions or clouds. Transfer cost arises from AWS-side network egress (EC2 gateway / NAT) when Power BI reads through a gateway in IDB's VPC - treat $0.09/GB as a conservative sensitivity. Tableau Server has no premium because it is hosted beside Snowflake. Cross-cloud setups also need additional support effort (connectivity, gateway monitoring, security reviews, incident triage), which is not costed here.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B BI POV">
  <a:themeElements>
    <a:clrScheme name="IDB BI POV">
      <a:dk1>
        <a:srgbClr val="111827"/>
      </a:dk1>
      <a:lt1>
        <a:srgbClr val="FFFFFF"/>
      </a:lt1>
      <a:dk2>
        <a:srgbClr val="17365D"/>
      </a:dk2>
      <a:lt2>
        <a:srgbClr val="F3F6F9"/>
      </a:lt2>
      <a:accent1>
        <a:srgbClr val="0F6B78"/>
      </a:accent1>
      <a:accent2>
        <a:srgbClr val="1F4E78"/>
      </a:accent2>
      <a:accent3>
        <a:srgbClr val="7C3AED"/>
      </a:accent3>
      <a:accent4>
        <a:srgbClr val="F59E0B"/>
      </a:accent4>
      <a:accent5>
        <a:srgbClr val="15803D"/>
      </a:accent5>
      <a:accent6>
        <a:srgbClr val="B91C1C"/>
      </a:accent6>
      <a:hlink>
        <a:srgbClr val="0F6B78"/>
      </a:hlink>
      <a:folHlink>
        <a:srgbClr val="6B7280"/>
      </a:folHlink>
    </a:clrScheme>
    <a:fontScheme name="IDB BI POV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Ascendion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 Phase 2 - BI Platform Point of View</dc:title>
  <dc:subject>PptxGenJS Presentation</dc:subject>
  <dc:creator>PptxGenJS</dc:creator>
  <cp:lastModifiedBy>PptxGenJS</cp:lastModifiedBy>
  <cp:revision>1</cp:revision>
  <dcterms:created xsi:type="dcterms:W3CDTF">2026-10-23T15:03:29Z</dcterms:created>
  <dcterms:modified xsi:type="dcterms:W3CDTF">2026-10-23T15:03:29Z</dcterms:modified>
</cp:coreProperties>
</file>