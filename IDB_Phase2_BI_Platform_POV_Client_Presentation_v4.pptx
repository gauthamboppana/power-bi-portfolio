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int of View" id="{b5aca2a4-f70b-edcf-a6a6-100b2ad8b9cb}">
          <p14:sldIdLst>
            <p14:sldId id="256"/>
            <p14:sldId id="257"/>
            <p14:sldId id="258"/>
            <p14:sldId id="259"/>
            <p14:sldId id="260"/>
          </p14:sldIdLst>
        </p14:section>
        <p14:section name="Economics" id="{850d6939-7db7-28af-a4e4-088daca74611}">
          <p14:sldIdLst>
            <p14:sldId id="261"/>
            <p14:sldId id="262"/>
            <p14:sldId id="263"/>
            <p14:sldId id="264"/>
            <p14:sldId id="265"/>
          </p14:sldIdLst>
        </p14:section>
        <p14:section name="Recommendation" id="{0961b0fd-a79a-705b-474b-c7faeb8b1158}">
          <p14:sldIdLst>
            <p14:sldId id="266"/>
            <p14:sldId id="267"/>
          </p14:sldIdLst>
        </p14:section>
        <p14:section name="Appendix" id="{94863a82-a263-0506-666a-1c1a195d5245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Snowflake on AWS</c:v>
                </c:pt>
              </c:strCache>
            </c:strRef>
          </c:tx>
          <c:spPr>
            <a:solidFill>
              <a:srgbClr val="0F6B78"/>
            </a:solidFill>
            <a:effectLst/>
          </c:spPr>
          <c:invertIfNegative val="0"/>
          <c:dLbls>
            <c:numFmt formatCode="$0.0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Power BI - F64 Reserved</c:v>
                  </c:pt>
                  <c:pt idx="1">
                    <c:v>Power BI - Pro</c:v>
                  </c:pt>
                  <c:pt idx="2">
                    <c:v>Tableau Cloud</c:v>
                  </c:pt>
                  <c:pt idx="3">
                    <c:v>Tableau Server</c:v>
                  </c:pt>
                  <c:pt idx="4">
                    <c:v>QuickSight Standard</c:v>
                  </c:pt>
                  <c:pt idx="5">
                    <c:v>QuickSight Author Pro (AI)</c:v>
                  </c:pt>
                  <c:pt idx="6">
                    <c:v>Tableau+ (AI)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1.38</c:v>
                </c:pt>
                <c:pt idx="1">
                  <c:v>1.5</c:v>
                </c:pt>
                <c:pt idx="2">
                  <c:v>1.84</c:v>
                </c:pt>
                <c:pt idx="3">
                  <c:v>2.09</c:v>
                </c:pt>
                <c:pt idx="4">
                  <c:v>1.25</c:v>
                </c:pt>
                <c:pt idx="5">
                  <c:v>1.38</c:v>
                </c:pt>
                <c:pt idx="6">
                  <c:v>2.72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Snowflake on Azure</c:v>
                </c:pt>
              </c:strCache>
            </c:strRef>
          </c:tx>
          <c:spPr>
            <a:solidFill>
              <a:srgbClr val="1F4E78"/>
            </a:solidFill>
            <a:effectLst/>
          </c:spPr>
          <c:invertIfNegative val="0"/>
          <c:dLbls>
            <c:numFmt formatCode="$0.0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Power BI - F64 Reserved</c:v>
                  </c:pt>
                  <c:pt idx="1">
                    <c:v>Power BI - Pro</c:v>
                  </c:pt>
                  <c:pt idx="2">
                    <c:v>Tableau Cloud</c:v>
                  </c:pt>
                  <c:pt idx="3">
                    <c:v>Tableau Server</c:v>
                  </c:pt>
                  <c:pt idx="4">
                    <c:v>QuickSight Standard</c:v>
                  </c:pt>
                  <c:pt idx="5">
                    <c:v>QuickSight Author Pro (AI)</c:v>
                  </c:pt>
                  <c:pt idx="6">
                    <c:v>Tableau+ (AI)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1.21</c:v>
                </c:pt>
                <c:pt idx="1">
                  <c:v>1.33</c:v>
                </c:pt>
                <c:pt idx="2">
                  <c:v>1.95</c:v>
                </c:pt>
                <c:pt idx="3">
                  <c:v>2.09</c:v>
                </c:pt>
                <c:pt idx="4">
                  <c:v>1.41</c:v>
                </c:pt>
                <c:pt idx="5">
                  <c:v>1.54</c:v>
                </c:pt>
                <c:pt idx="6">
                  <c:v>2.83</c:v>
                </c:pt>
              </c:numCache>
            </c:numRef>
          </c:val>
        </c:ser>
        <c:dLbls>
          <c:numFmt formatCode="$0.0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3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365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7365D"/>
                </a:solidFill>
                <a:latin typeface="+mn-lt"/>
              </a:rPr>
              <a:t>Annual licensing at baseline ($K)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licensing</c:v>
                </c:pt>
              </c:strCache>
            </c:strRef>
          </c:tx>
          <c:spPr>
            <a:solidFill>
              <a:srgbClr val="1F4E78"/>
            </a:solidFill>
            <a:effectLst/>
          </c:spPr>
          <c:invertIfNegative val="0"/>
          <c:dLbls>
            <c:numFmt formatCode="$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4E7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Power BI Pro - all</c:v>
                  </c:pt>
                  <c:pt idx="1">
                    <c:v>Power BI PPU - all</c:v>
                  </c:pt>
                  <c:pt idx="2">
                    <c:v>Fabric F64 Reserved + Pro</c:v>
                  </c:pt>
                  <c:pt idx="3">
                    <c:v>Fabric F64 PAYG + Pro</c:v>
                  </c:pt>
                  <c:pt idx="4">
                    <c:v>Tableau Standard</c:v>
                  </c:pt>
                  <c:pt idx="5">
                    <c:v>Tableau+ (floor)</c:v>
                  </c:pt>
                  <c:pt idx="6">
                    <c:v>QuickSight Standard</c:v>
                  </c:pt>
                  <c:pt idx="7">
                    <c:v>QuickSight Author Pro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105</c:v>
                </c:pt>
                <c:pt idx="1">
                  <c:v>180</c:v>
                </c:pt>
                <c:pt idx="2">
                  <c:v>81</c:v>
                </c:pt>
                <c:pt idx="3">
                  <c:v>121.9</c:v>
                </c:pt>
                <c:pt idx="4">
                  <c:v>192.6</c:v>
                </c:pt>
                <c:pt idx="5">
                  <c:v>369</c:v>
                </c:pt>
                <c:pt idx="6">
                  <c:v>54</c:v>
                </c:pt>
                <c:pt idx="7">
                  <c:v>81</c:v>
                </c:pt>
              </c:numCache>
            </c:numRef>
          </c:val>
        </c:ser>
        <c:dLbls>
          <c:numFmt formatCode="$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IDB Phase 2  |  BI Platform Point of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6751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Confidential  |  23 October 2026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7365D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6B7280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image" descr="/home/claude/work/pp/img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0899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>
              <a:alpha val="78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DD3FC"/>
                </a:solidFill>
              </a:rPr>
              <a:t>ENTERPRISE BI PLATFORM STRATEGY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IDB Phase 2: BI Platform Point of View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Power BI vs Tableau vs Amazon QuickSight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4747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 conditional platform recommendation aligned to the Snowflake hosting decision, enterprise reporting needs, governance and five-year total cost of ownership.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Prepared by Ascendion  |  23 October 2026  |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Select the BI platform as part of the target cloud and data architecture, not as an isolated product decision.</a:t>
            </a:r>
            <a:endParaRPr lang="en-US" sz="1400" dirty="0"/>
          </a:p>
        </p:txBody>
      </p:sp>
      <p:sp>
        <p:nvSpPr>
          <p:cNvPr id="4" name="card If Snowflake is on AWS"/>
          <p:cNvSpPr/>
          <p:nvPr/>
        </p:nvSpPr>
        <p:spPr>
          <a:xfrm>
            <a:off x="457200" y="141732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3677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5453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If Snowflake is on AWS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65960"/>
            <a:ext cx="32461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QuickSight leads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Strongest native alignment and lowest five-year TCO ($1.25M). Tableau Cloud is the cloud-neutral alternative with no cross-cloud premium. Power BI remains viable with cross-cloud controls.</a:t>
            </a:r>
            <a:endParaRPr lang="en-US" sz="1300" dirty="0"/>
          </a:p>
        </p:txBody>
      </p:sp>
      <p:sp>
        <p:nvSpPr>
          <p:cNvPr id="8" name="card If Snowflake is on Azure"/>
          <p:cNvSpPr/>
          <p:nvPr/>
        </p:nvSpPr>
        <p:spPr>
          <a:xfrm>
            <a:off x="4251960" y="141732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53128" y="1636776"/>
            <a:ext cx="201168" cy="201168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5453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If Snowflake is on Azure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53128" y="1965960"/>
            <a:ext cx="32461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</a:rPr>
              <a:t>Power BI leads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Best M365, Entra ID and Fabric alignment. Fabric F64 Reserved is the lowest Azure TCO ($1.21M). Tableau remains viable; QuickSight becomes cross-cloud.</a:t>
            </a:r>
            <a:endParaRPr lang="en-US" sz="1300" dirty="0"/>
          </a:p>
        </p:txBody>
      </p:sp>
      <p:sp>
        <p:nvSpPr>
          <p:cNvPr id="12" name="card If cloud is unresolved"/>
          <p:cNvSpPr/>
          <p:nvPr/>
        </p:nvSpPr>
        <p:spPr>
          <a:xfrm>
            <a:off x="8046720" y="141732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47888" y="163677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49640" y="15453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If cloud is unresolved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1965960"/>
            <a:ext cx="32461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Tableau benchmark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Keep Phase 2 cloud-neutral and use Tableau as the benchmark. Defer the final standard until the cloud, FIS-to-Snowflake readiness and operating model are confirmed.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$1.25M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Lowest 5-year TCO - QuickSight with Snowflake on AWS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8"/>
                </a:solidFill>
              </a:rPr>
              <a:t>$1.21M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Lowest 5-year TCO on Azure - Power BI Fabric F64 Reserved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1C1C"/>
                </a:solidFill>
              </a:rPr>
              <a:t>$33.4K/yr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Power BI premium when Snowflake is on AWS rather than Azure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4160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803D"/>
                </a:solidFill>
              </a:rPr>
              <a:t>$0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4846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Tableau Cloud premium with Snowflake on AWS (it runs on AWS)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Tableau is the neutral benchmark while hosting is open; QuickSight leads on AWS, Power BI on Azure.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Why the decision is conditional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Five transformation programmes are moving in parallel; the BI choice depends on all of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57200" cy="4572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On-premises today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647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Phase 2 cannot assume cloud readiness.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350008"/>
            <a:ext cx="457200" cy="4572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042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Snowflake cloud unresolved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AWS is preferred; Azure remains a multi-cloud option.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91256"/>
            <a:ext cx="457200" cy="4572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455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FIS migration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4472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Dataset completeness, reconciliation and refresh SLA remain open.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032504"/>
            <a:ext cx="457200" cy="4572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9867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Reporting consolidation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2885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Cognos, Tableau, Power BI and Crystal create duplicated support; Qlik has been retired.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873752"/>
            <a:ext cx="457200" cy="457200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8280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Operating model transition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51297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Platform ownership and L1/L2/L3 boundaries must be defined.</a:t>
            </a:r>
            <a:endParaRPr lang="en-US" sz="1300" dirty="0"/>
          </a:p>
        </p:txBody>
      </p:sp>
      <p:pic>
        <p:nvPicPr>
          <p:cNvPr id="24" name="context image" descr="/home/claude/work/pp/img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63040"/>
            <a:ext cx="5422392" cy="2706624"/>
          </a:xfrm>
          <a:prstGeom prst="rect">
            <a:avLst/>
          </a:prstGeom>
        </p:spPr>
      </p:pic>
      <p:sp>
        <p:nvSpPr>
          <p:cNvPr id="25" name="card What IDB has told us"/>
          <p:cNvSpPr/>
          <p:nvPr/>
        </p:nvSpPr>
        <p:spPr>
          <a:xfrm>
            <a:off x="6309360" y="4343400"/>
            <a:ext cx="5422392" cy="1280160"/>
          </a:xfrm>
          <a:prstGeom prst="roundRect">
            <a:avLst>
              <a:gd name="adj" fmla="val 5714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510528" y="4471416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What IDB has told us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510528" y="4892040"/>
            <a:ext cx="5056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Saravanan: Power BI may not suit IDB if data must move from AWS to Azure; standardising on QuickSight could be considered. Tableau is in use, Cognos serves LoanIQ and Actimize, Crystal remains.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platform decision must follow evidence, not cloud preference alone.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Capability comparison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All three are viable. Differentiation sits in semantic governance, visual exploration and cloud-native operations.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Power BI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Tableau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QuickSight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Enterprise semantic layer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Ad hoc visual exploration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Pixel-perfect reporting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Data preparation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Governance and lineage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Conversational / AI analytics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M365 integration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AWS-native integration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Deployment portability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Operational overhead (5 = lowest)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Skills availability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5" name="card Power BI"/>
          <p:cNvSpPr/>
          <p:nvPr/>
        </p:nvSpPr>
        <p:spPr>
          <a:xfrm>
            <a:off x="7498080" y="1417320"/>
            <a:ext cx="4233672" cy="1298448"/>
          </a:xfrm>
          <a:prstGeom prst="roundRect">
            <a:avLst>
              <a:gd name="adj" fmla="val 5634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99248" y="1636776"/>
            <a:ext cx="201168" cy="201168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1545336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Power BI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99248" y="196596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Strongest governed semantic layer (DAX), paginated reporting and M365 / Copilot integration.</a:t>
            </a:r>
            <a:endParaRPr lang="en-US" sz="1300" dirty="0"/>
          </a:p>
        </p:txBody>
      </p:sp>
      <p:sp>
        <p:nvSpPr>
          <p:cNvPr id="9" name="card Tableau"/>
          <p:cNvSpPr/>
          <p:nvPr/>
        </p:nvSpPr>
        <p:spPr>
          <a:xfrm>
            <a:off x="7498080" y="2852928"/>
            <a:ext cx="4233672" cy="1298448"/>
          </a:xfrm>
          <a:prstGeom prst="roundRect">
            <a:avLst>
              <a:gd name="adj" fmla="val 5634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99248" y="307238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2980944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Tableau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99248" y="3401568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Best visual exploration and cloud-neutral deployment; reuses IDB's existing Tableau footprint.</a:t>
            </a:r>
            <a:endParaRPr lang="en-US" sz="1300" dirty="0"/>
          </a:p>
        </p:txBody>
      </p:sp>
      <p:sp>
        <p:nvSpPr>
          <p:cNvPr id="13" name="card Amazon QuickSight"/>
          <p:cNvSpPr/>
          <p:nvPr/>
        </p:nvSpPr>
        <p:spPr>
          <a:xfrm>
            <a:off x="7498080" y="4288536"/>
            <a:ext cx="4233672" cy="1298448"/>
          </a:xfrm>
          <a:prstGeom prst="roundRect">
            <a:avLst>
              <a:gd name="adj" fmla="val 5634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99248" y="450799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4416552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Amazon QuickSight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699248" y="4837176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Best AWS-native fit, serverless operations and lowest licence cost; weaker semantic modelling.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5486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5 = leading, 4 = strong, 3 = adequate with design considerations. Validate Cognos replacement, security and concurrency with IDB workloads.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Target architecture position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Keep the serving layer open and place interactive analytics close to the authoritative data platform.</a:t>
            </a:r>
            <a:endParaRPr lang="en-US" sz="1400" dirty="0"/>
          </a:p>
        </p:txBody>
      </p:sp>
      <p:pic>
        <p:nvPicPr>
          <p:cNvPr id="4" name="architecture image" descr="/home/claude/work/pp/img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669280" cy="2834640"/>
          </a:xfrm>
          <a:prstGeom prst="rect">
            <a:avLst/>
          </a:prstGeom>
        </p:spPr>
      </p:pic>
      <p:sp>
        <p:nvSpPr>
          <p:cNvPr id="5" name="card Clarification"/>
          <p:cNvSpPr/>
          <p:nvPr/>
        </p:nvSpPr>
        <p:spPr>
          <a:xfrm>
            <a:off x="457200" y="4434840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FFF3CD"/>
          </a:solidFill>
          <a:ln w="9525">
            <a:solidFill>
              <a:srgbClr val="F2D27A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58368" y="4562856"/>
            <a:ext cx="5330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Clarification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498348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Power BI does not require Snowflake data to move to Azure. The issue is cross-cloud transfer, latency, security and operating cost - not database relocation.</a:t>
            </a:r>
            <a:endParaRPr lang="en-US" sz="1200" dirty="0"/>
          </a:p>
        </p:txBody>
      </p:sp>
      <p:sp>
        <p:nvSpPr>
          <p:cNvPr id="8" name="card Power BI"/>
          <p:cNvSpPr/>
          <p:nvPr/>
        </p:nvSpPr>
        <p:spPr>
          <a:xfrm>
            <a:off x="6400800" y="1417320"/>
            <a:ext cx="5330952" cy="1353312"/>
          </a:xfrm>
          <a:prstGeom prst="roundRect">
            <a:avLst>
              <a:gd name="adj" fmla="val 5405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01968" y="1636776"/>
            <a:ext cx="201168" cy="201168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0" y="1545336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Power BI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601968" y="1965960"/>
            <a:ext cx="4965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AWS: Power BI service (Azure) reads AWS Snowflake - cross-cloud; Import-first and gateway design required.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Azure: same-cloud; strongest Entra / M365 / Fabric alignment.</a:t>
            </a:r>
            <a:endParaRPr lang="en-US" sz="1150" dirty="0"/>
          </a:p>
        </p:txBody>
      </p:sp>
      <p:sp>
        <p:nvSpPr>
          <p:cNvPr id="12" name="card Tableau"/>
          <p:cNvSpPr/>
          <p:nvPr/>
        </p:nvSpPr>
        <p:spPr>
          <a:xfrm>
            <a:off x="6400800" y="2834640"/>
            <a:ext cx="5330952" cy="1353312"/>
          </a:xfrm>
          <a:prstGeom prst="roundRect">
            <a:avLst>
              <a:gd name="adj" fmla="val 5405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01968" y="305409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3720" y="2962656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Tableau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601968" y="3383280"/>
            <a:ext cx="4965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AWS: Tableau Cloud runs on Hyperforce on AWS - same-cloud when regions match.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Azure: Tableau Cloud is cross-cloud; Tableau Server on Azure avoids it.</a:t>
            </a:r>
            <a:endParaRPr lang="en-US" sz="1150" dirty="0"/>
          </a:p>
        </p:txBody>
      </p:sp>
      <p:sp>
        <p:nvSpPr>
          <p:cNvPr id="16" name="card QuickSight"/>
          <p:cNvSpPr/>
          <p:nvPr/>
        </p:nvSpPr>
        <p:spPr>
          <a:xfrm>
            <a:off x="6400800" y="4251960"/>
            <a:ext cx="5330952" cy="1353312"/>
          </a:xfrm>
          <a:prstGeom prst="roundRect">
            <a:avLst>
              <a:gd name="adj" fmla="val 5405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01968" y="447141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03720" y="4379976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QuickSight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601968" y="4800600"/>
            <a:ext cx="4965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AWS: strongest native fit - IAM, VPC and regional alignment.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</a:rPr>
              <a:t>Azure: cross-cloud access removes QuickSight's main architectural advantage.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Economics and architecture premium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Five-year TCO, scenarios, the cross-cloud premium and AI licensing - all figures from the IDB BI Cost Simulator v2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Five-year TCO depends on where Snowflake is hosted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Baseline: 500 consumers, 100 developers, 25 explorers, 5 TB/month; includes one-time migration and training.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2237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Snowflake on AWS"/>
          <p:cNvSpPr/>
          <p:nvPr/>
        </p:nvSpPr>
        <p:spPr>
          <a:xfrm>
            <a:off x="7955280" y="1371600"/>
            <a:ext cx="3776472" cy="2011680"/>
          </a:xfrm>
          <a:prstGeom prst="roundRect">
            <a:avLst>
              <a:gd name="adj" fmla="val 3636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156448" y="1591056"/>
            <a:ext cx="201168" cy="201168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58200" y="1499616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Snowflake on AWS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156448" y="1920240"/>
            <a:ext cx="3410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QuickSight $1.25M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Power BI F64 Reserved $1.38M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Power BI Pro $1.50M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Tableau Cloud $1.84M</a:t>
            </a:r>
            <a:endParaRPr lang="en-US" sz="1300" dirty="0"/>
          </a:p>
        </p:txBody>
      </p:sp>
      <p:sp>
        <p:nvSpPr>
          <p:cNvPr id="9" name="card Snowflake on Azure"/>
          <p:cNvSpPr/>
          <p:nvPr/>
        </p:nvSpPr>
        <p:spPr>
          <a:xfrm>
            <a:off x="7955280" y="3520440"/>
            <a:ext cx="3776472" cy="2011680"/>
          </a:xfrm>
          <a:prstGeom prst="roundRect">
            <a:avLst>
              <a:gd name="adj" fmla="val 3636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156448" y="3739896"/>
            <a:ext cx="201168" cy="201168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58200" y="3648456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Snowflake on Azure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156448" y="4069080"/>
            <a:ext cx="3410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Power BI F64 Reserved $1.21M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Power BI Pro $1.33M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QuickSight $1.41M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Tableau Cloud $1.95M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Fabric F64 Reserved saves $119,840 over five years vs Pro at 500 consumers. PPU is never the lowest Power BI option.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Total cost by scenario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Five-year TCO for the leading configurations at three IDB adoption scales (all 20 configurations in the appendix).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48840"/>
                <a:gridCol w="1325880"/>
                <a:gridCol w="1325880"/>
                <a:gridCol w="13258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Licence model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S1 Small (100 consumers)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S2 Medium (250)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S3 Large (500)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27432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65D"/>
                          </a:solidFill>
                        </a:rPr>
                        <a:t>Snowflake on AWS</a:t>
                      </a:r>
                      <a:endParaRPr lang="en-US" sz="11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$544,800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$923,600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$1,501,000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$625,800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$1,115,600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$1,876,000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$760,960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$1,013,760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$1,381,160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$593,700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$1,082,400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$1,842,000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$843,700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$1,332,400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$2,092,000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$435,800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$769,200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$1,245,400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365D"/>
                          </a:solidFill>
                        </a:rPr>
                        <a:t>Snowflake on Azure</a:t>
                      </a:r>
                      <a:endParaRPr lang="en-US" sz="11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$447,400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$802,800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$1,334,000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$528,400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$994,800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$1,709,000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$663,560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$892,960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</a:rPr>
                        <a:t>$1,214,160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$646,750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$1,153,000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$1,947,250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$843,700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$1,332,400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$2,092,000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$515,810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$876,120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$1,405,450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card What the scenarios show"/>
          <p:cNvSpPr/>
          <p:nvPr/>
        </p:nvSpPr>
        <p:spPr>
          <a:xfrm>
            <a:off x="8412480" y="1371600"/>
            <a:ext cx="3319272" cy="4251960"/>
          </a:xfrm>
          <a:prstGeom prst="roundRect">
            <a:avLst>
              <a:gd name="adj" fmla="val 2204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13648" y="149961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What the scenarios show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13648" y="1920240"/>
            <a:ext cx="2953512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QuickSight is the lowest AWS option at every scale; at S3, Power BI F64 Reserved on Azure is lowest overall.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On Azure, Power BI Pro wins at S1 and S2; F64 Reserved wins at S3 because viewers are free above ~357 consumers.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Tableau Server costs the same in either cloud - placement control at higher operations cost.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Scenario definitions: S1 100/25/10 users, 1 TB; S2 250/50/20, 2 TB; S3 500/100/25, 5 TB (consumers/developers/explorers).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897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Green = lowest in cloud and scenario. Gold = recommended Power BI model.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Cross-cloud premium: Snowflake on AWS vs Azure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Annual architecture and operations cost for each platform in each placement; licensing is unchanged by placement.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1C1C"/>
                </a:solidFill>
              </a:rPr>
              <a:t>$33.4K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Power BI annual premium with Snowflake on AWS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1C1C"/>
                </a:solidFill>
              </a:rPr>
              <a:t>$167.0K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Power BI five-year premium (12.1% of F64 Reserved TCO)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3AED"/>
                </a:solidFill>
              </a:rPr>
              <a:t>$21.1K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Tableau Cloud annual premium - only if Snowflake is on Azure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0" y="1371600"/>
          <a:ext cx="87142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960120"/>
                <a:gridCol w="960120"/>
                <a:gridCol w="914400"/>
                <a:gridCol w="914400"/>
                <a:gridCol w="960120"/>
                <a:gridCol w="89611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Snowflake on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Transfer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Incr. compute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Gateway / server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Operations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Base Snowflake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Annual arch &amp; ops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Premium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AWS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</a:rPr>
                        <a:t>$33,400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Azure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AWS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$25,000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Azure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$4,050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$9,000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$33,000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$56,850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</a:rPr>
                        <a:t>$21,050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AWS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$45,000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Azure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$45,000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AWS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$15,000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$10,080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Azure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$6,210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$13,800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$27,000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$10,080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$57,090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</a:rPr>
                        <a:t>$32,010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3017520" y="534924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Rose = cross-cloud placement. Tableau Server is hosted beside Snowflake in either cloud, so it has no premium. QuickSight carries $32.0K/yr with Snowflake on Azure.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Transfer line = AWS-side gateway egress (Snowflake does not bill driver query results) - confirm in PoV.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Licensing and AI considerations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AI value is not included uniformly in base BI licences; price the AI tier for the users who need it.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6692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Annual AI uplift vs standard tier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3309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44752"/>
                <a:gridCol w="850392"/>
                <a:gridCol w="850392"/>
                <a:gridCol w="85953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S1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S2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S3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 Copilot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Paid Fabric F2+ / P1+ capacity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$0 on F64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$0 on F64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$0 on F64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Tableau+ (AI, Agentforce)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Quote-only bundle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+$39,360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+$90,720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+$176,400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 Author Pro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$40 vs $24 + $250/mo fee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+$9,720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+$16,440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+$27,000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7" name="card Points to note"/>
          <p:cNvSpPr/>
          <p:nvPr/>
        </p:nvSpPr>
        <p:spPr>
          <a:xfrm>
            <a:off x="6400800" y="3703320"/>
            <a:ext cx="533095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601968" y="3831336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Points to note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601968" y="4251960"/>
            <a:ext cx="49651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F64 Reserved beats Pro above ~357 consumers; F64 PAYG needs ~601.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Premium P1 is legacy - Microsoft no longer sells new P SKUs.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Tableau+ is quote-only; Enterprise list ($115 / $70 / $35) used as a floor.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Copilot consumes F64 capacity units - size it in the PoV.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Fabric Mirroring is an optimisation, not a selection criterion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Use mirroring only when measured savings and broader Fabric value exceed incremental platform and governance cost.</a:t>
            </a:r>
            <a:endParaRPr lang="en-US" sz="1400" dirty="0"/>
          </a:p>
        </p:txBody>
      </p:sp>
      <p:sp>
        <p:nvSpPr>
          <p:cNvPr id="4" name="card Optimise Import"/>
          <p:cNvSpPr/>
          <p:nvPr/>
        </p:nvSpPr>
        <p:spPr>
          <a:xfrm>
            <a:off x="457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59105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Optimise Import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1168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Curated models, aggregations, incremental refresh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1143000"/>
            <a:ext cx="457200" cy="45720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card Selective DirectQuery"/>
          <p:cNvSpPr/>
          <p:nvPr/>
        </p:nvSpPr>
        <p:spPr>
          <a:xfrm>
            <a:off x="2743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44368" y="159105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Selective DirectQuery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44368" y="201168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Freshness-sensitive detail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1143000"/>
            <a:ext cx="457200" cy="45720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card Measure workload"/>
          <p:cNvSpPr/>
          <p:nvPr/>
        </p:nvSpPr>
        <p:spPr>
          <a:xfrm>
            <a:off x="5029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30368" y="159105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Measure workload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201168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Snowflake credits, egress, latency, concurrency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1143000"/>
            <a:ext cx="457200" cy="45720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52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card Evaluate mirroring"/>
          <p:cNvSpPr/>
          <p:nvPr/>
        </p:nvSpPr>
        <p:spPr>
          <a:xfrm>
            <a:off x="7315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E0F2F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16368" y="159105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Evaluate mirroring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516368" y="201168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High reuse + broader Fabric adoption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1143000"/>
            <a:ext cx="457200" cy="45720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38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card Rebuild controls"/>
          <p:cNvSpPr/>
          <p:nvPr/>
        </p:nvSpPr>
        <p:spPr>
          <a:xfrm>
            <a:off x="9601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802368" y="159105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Rebuild controls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802368" y="201168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RLS/CLS, monitoring, reseed management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424160" y="1143000"/>
            <a:ext cx="457200" cy="45720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241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9" name="card Potential value"/>
          <p:cNvSpPr/>
          <p:nvPr/>
        </p:nvSpPr>
        <p:spPr>
          <a:xfrm>
            <a:off x="457200" y="34747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" y="3694176"/>
            <a:ext cx="201168" cy="20116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0120" y="36027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Potential value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4023360"/>
            <a:ext cx="32461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Fewer repetitive Snowflake BI queries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Enables Fabric BI, engineering and data science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Direct Lake performance</a:t>
            </a:r>
            <a:endParaRPr lang="en-US" sz="1200" dirty="0"/>
          </a:p>
        </p:txBody>
      </p:sp>
      <p:sp>
        <p:nvSpPr>
          <p:cNvPr id="33" name="card Material constraints"/>
          <p:cNvSpPr/>
          <p:nvPr/>
        </p:nvSpPr>
        <p:spPr>
          <a:xfrm>
            <a:off x="4288536" y="34747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89704" y="3694176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91456" y="36027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Material constraints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489704" y="4023360"/>
            <a:ext cx="32461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Second governed copy; 1,000-table limit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Snowflake RLS/CLS do not replicate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Views sync every 12 hours; reseed risk</a:t>
            </a:r>
            <a:endParaRPr lang="en-US" sz="1200" dirty="0"/>
          </a:p>
        </p:txBody>
      </p:sp>
      <p:sp>
        <p:nvSpPr>
          <p:cNvPr id="37" name="card IDB position"/>
          <p:cNvSpPr/>
          <p:nvPr/>
        </p:nvSpPr>
        <p:spPr>
          <a:xfrm>
            <a:off x="8119872" y="34747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321040" y="3694176"/>
            <a:ext cx="201168" cy="201168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22792" y="36027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IDB position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4023360"/>
            <a:ext cx="32461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Relevant for the 500-consumer / 5 TB case only if Fabric is adopted strategically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Start with optimised Import / composite models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 with optimised Import/composite models; mirror only after workload evidence supports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Decision gates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Confirm all five gates before standardising on a BI platform.</a:t>
            </a:r>
            <a:endParaRPr lang="en-US" sz="1400" dirty="0"/>
          </a:p>
        </p:txBody>
      </p:sp>
      <p:sp>
        <p:nvSpPr>
          <p:cNvPr id="4" name="card Cloud"/>
          <p:cNvSpPr/>
          <p:nvPr/>
        </p:nvSpPr>
        <p:spPr>
          <a:xfrm>
            <a:off x="457200" y="18288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95681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Cloud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377440"/>
            <a:ext cx="17373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Confirm AWS, Azure or multi-cloud direction and expected readiness.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1463040"/>
            <a:ext cx="548640" cy="54864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card Data"/>
          <p:cNvSpPr/>
          <p:nvPr/>
        </p:nvSpPr>
        <p:spPr>
          <a:xfrm>
            <a:off x="2743200" y="18288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44368" y="195681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Data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44368" y="2377440"/>
            <a:ext cx="17373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Confirm the FIS Snowflake catalogue, history, grain, reconciliation and refresh SLA.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20440" y="1463040"/>
            <a:ext cx="548640" cy="54864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card Security"/>
          <p:cNvSpPr/>
          <p:nvPr/>
        </p:nvSpPr>
        <p:spPr>
          <a:xfrm>
            <a:off x="5029200" y="18288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230368" y="195681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Security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2377440"/>
            <a:ext cx="17373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Confirm identity, private connectivity, residency, audit and regulatory requirements.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06440" y="1463040"/>
            <a:ext cx="548640" cy="54864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card Commercial"/>
          <p:cNvSpPr/>
          <p:nvPr/>
        </p:nvSpPr>
        <p:spPr>
          <a:xfrm>
            <a:off x="7315200" y="18288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16368" y="195681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Commercial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516368" y="2377440"/>
            <a:ext cx="17373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Obtain comparable five-year vendor and operating-cost scenarios.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92440" y="1463040"/>
            <a:ext cx="548640" cy="54864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92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card Fit"/>
          <p:cNvSpPr/>
          <p:nvPr/>
        </p:nvSpPr>
        <p:spPr>
          <a:xfrm>
            <a:off x="9601200" y="18288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802368" y="1956816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Fit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802368" y="2377440"/>
            <a:ext cx="17373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Confirm functional, non-functional and operating-model viability against representative IDB workloads.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378440" y="1463040"/>
            <a:ext cx="548640" cy="548640"/>
          </a:xfrm>
          <a:prstGeom prst="ellipse">
            <a:avLst/>
          </a:prstGeom>
          <a:solidFill>
            <a:srgbClr val="0F6B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78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7200" y="58064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Replace list prices with Microsoft, Salesforce and AWS quotes in the Cost Simulator before the final decision.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Appendix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Detailed calculations, assumptions and validated sources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A1. Cost model and assumptions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All figures are planning estimates from public list prices; replace with IDB quotes and PoV measurements.</a:t>
            </a:r>
            <a:endParaRPr lang="en-US" sz="1400" dirty="0"/>
          </a:p>
        </p:txBody>
      </p:sp>
      <p:sp>
        <p:nvSpPr>
          <p:cNvPr id="4" name="card Cost model"/>
          <p:cNvSpPr/>
          <p:nvPr/>
        </p:nvSpPr>
        <p:spPr>
          <a:xfrm>
            <a:off x="457200" y="13716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EEF5F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499616"/>
            <a:ext cx="10936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Cost model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920240"/>
            <a:ext cx="10908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Annual run-rate = BI licences or capacity + Snowflake BI compute + data transfer + gateway / server infrastructure + administration / support.   Five-year TCO = 5 x run-rate + one-time migration + training (0% inflation).</a:t>
            </a:r>
            <a:endParaRPr lang="en-US" sz="1200" dirty="0"/>
          </a:p>
        </p:txBody>
      </p:sp>
      <p:sp>
        <p:nvSpPr>
          <p:cNvPr id="7" name="card Workload and one-time costs"/>
          <p:cNvSpPr/>
          <p:nvPr/>
        </p:nvSpPr>
        <p:spPr>
          <a:xfrm>
            <a:off x="457200" y="251460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" y="2642616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Workload and one-time costs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063240"/>
            <a:ext cx="516636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Baseline: 500 consumers, 100 developers, 25 explorers, 100 peak concurrent, 5 TB/month, 250 reports (estate ~280).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Explorers licensed as author-class users on every platform (like-for-like).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Migration per report: Power BI $2,500, Tableau $2,700, QuickSight $3,200.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Training: Power BI $30K, Tableau $25K, QuickSight $50K.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One-time totals: Power BI $655K, Tableau $700K, QuickSight $850K.</a:t>
            </a:r>
            <a:endParaRPr lang="en-US" sz="1200" dirty="0"/>
          </a:p>
        </p:txBody>
      </p:sp>
      <p:sp>
        <p:nvSpPr>
          <p:cNvPr id="10" name="card Architecture and Snowflake"/>
          <p:cNvSpPr/>
          <p:nvPr/>
        </p:nvSpPr>
        <p:spPr>
          <a:xfrm>
            <a:off x="6199632" y="251460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F3F6F9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0" y="2642616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Architecture and Snowflake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063240"/>
            <a:ext cx="516636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Snowflake $3.00/credit (Enterprise, AWS US East); 300 credits/month (280 for QuickSight).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Cross-cloud: $0.09/GB transfer, $12K/yr incremental compute, $6K/yr AWS gateway, $10K/yr operations (Power BI on AWS).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Factors: Tableau Cloud on Azure Snowflake 0.75; on AWS 0 (Hyperforce on AWS). QuickSight on Azure Snowflake 1.15.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Platform operations / yr: Power BI $20K, Tableau Cloud $25K, Tableau Server $45K + $30K infra, QuickSight $15K.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A2. Validated list prices (23 October 2026)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Checked against vendor pricing pages; Tableau+ is quote-only.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3200400"/>
                <a:gridCol w="11247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 used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Power BI Pro / PPU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$14 / $24 per user per month, paid yearly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microsoft.com - Power BI pricing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Fabric F64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$8,409.60/mo PAYG; $5,002.67/mo 1-yr reserved (US)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azure.microsoft.com - Fabric pricing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Power BI Premium P1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$4,995/mo; no new P SKU sales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learn.microsoft.com - Premium migration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Legacy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Power BI Copilot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Paid Fabric F2+ or P1+ capacity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learn.microsoft.com - Copilot enablement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Standard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$75 Creator / $42 Explorer / $15 Viewer (Cloud and Server)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tableau.com/pricing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Enterprise / Tableau+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$115 / $70 / $35 Enterprise used as Tableau+ floor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tableau.com/pricing/cloud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Quote-only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Cloud hosting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Salesforce Hyperforce on AWS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AWS migration blog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Amazon QuickSight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$24 Author / $40 Author Pro / $3 Reader / $20 Reader Pro / $250 account fee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aws.amazon.com/quick/quicksight/pricing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Snowflake credits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$2 Standard / $3 Enterprise / $4 Business Critical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snowflake.com pricing guide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Snowflake transfer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$90/TB to other cloud; no egress on driver query results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docs.snowflake.com - data transfer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A3. Licensing breakdown at baseline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100 developers + 25 explorers + 500 consumers; annual USD.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05840"/>
                <a:gridCol w="1005840"/>
                <a:gridCol w="1005840"/>
                <a:gridCol w="1234440"/>
                <a:gridCol w="1143000"/>
                <a:gridCol w="27706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Licensing model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Developers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Explorers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Consumers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Capacity / account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Annual total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 Pro - all named users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$16,800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$84,000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$105,000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Shared capacity; no Copilot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Power BI PPU - all named users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$28,800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$7,200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$144,000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$180,000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Premium features per user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Fabric F64 Reserved + Pro authors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$16,800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Free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$60,032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$81,032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Recommended Power BI model at 500 consumers; Copilot uses capacity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Fabric F64 PAYG + Pro authors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$16,800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Free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$100,915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$121,915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Flexible, ~68% dearer than reserved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Premium P1 + Pro authors (legacy)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$16,800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Free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$59,940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$80,940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Legacy reference - no new P SKU purchases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 Standard role-based (Cloud or Server)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$90,000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$12,600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$90,000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Same list price for Cloud and Server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Tableau+ AI tier (planning floor)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$138,000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$21,000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$210,000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$369,000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Quote-only; Enterprise list used as floor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 Standard - Author + Reader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$28,800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$7,200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$18,000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$54,000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Explorers licensed as Authors (like-for-like)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 Author Pro + Reader (AI)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$48,000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$18,000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$81,000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Generative BI for authors + $250/month account fee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QuickSight full Pro - Author Pro + Reader Pro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$48,000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$120,000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$3,000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</a:rPr>
                        <a:t>$183,000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Reference only - not in TCO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8064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65D"/>
                </a:solidFill>
              </a:rPr>
              <a:t>Break-evens: F64 Reserved vs Pro ~357 consumers; F64 PAYG vs Pro ~601; PPU vs F64 Reserved + Pro ~281 named users.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A4. Architecture and operations derivation (baseline)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Transfer = TB x 1,000 x 12 x $/GB x factor; base Snowflake = credits x 12 x $3.00.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051560"/>
                <a:gridCol w="1143000"/>
                <a:gridCol w="1188720"/>
                <a:gridCol w="1097280"/>
                <a:gridCol w="1188720"/>
                <a:gridCol w="112471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Configuration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Alignment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Transfer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Incr. compute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Gateway / server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Operations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 Snowflake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Annual total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Cross-cloud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$5,400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$12,000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$6,000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$30,000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$20,000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Cloud + Snowflake AWS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cloud (AWS)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$25,000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Cloud + Snowflake Azure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Cross-cloud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$4,050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$9,000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$33,000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$56,850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Server + Snowflake AWS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$30,000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$45,000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Tableau Server + Snowflake Azure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$30,000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$45,000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QuickSight + Snowflake AWS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Same 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$15,000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$10,080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QuickSight + Snowflake Azure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Cross-cloud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$6,210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$13,800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$27,000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$10,080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$57,090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65D"/>
                </a:solidFill>
              </a:rPr>
              <a:t>Cross-cloud premium = cross-cloud row minus same-cloud row: Power BI $33,400; Tableau Cloud $21,050 (Snowflake on Azure); QuickSight $32,010 (Snowflake on Azure); Tableau Server $0.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A5. Five-year TCO - all 20 configurations (baseline)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Gold = recommended Power BI model; rose = AI tiers. Rank across all 20.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331720"/>
                <a:gridCol w="1143000"/>
                <a:gridCol w="1188720"/>
                <a:gridCol w="1005840"/>
                <a:gridCol w="1143000"/>
                <a:gridCol w="1078992"/>
                <a:gridCol w="54864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Configuration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Licence model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 licensing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 arch &amp; ops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One-time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5-year TCO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annual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AWS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$1,501,000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$300,200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$180,000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$1,876,000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$375,200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$1,381,160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$276,232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$121,915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$1,585,576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$317,115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$80,940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$1,380,700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$276,140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$1,842,000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$368,400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$369,000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$2,724,000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$544,800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$2,092,000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$418,400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$1,245,400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$249,080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 + Snowflake AWS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$1,380,400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$276,080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Azure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$1,334,000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$266,800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$180,000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$1,709,000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$341,800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$1,214,160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$242,832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$121,915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$1,418,576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$283,715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$80,940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$1,213,700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$242,740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$56,850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$1,947,250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$389,450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$369,000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$56,850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$2,829,250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$565,850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$2,092,000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$418,400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$57,090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$1,405,450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$281,090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 + Snowflake Azure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$57,090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$1,540,450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$308,090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A6. Total cost by scenario - all 20 configurations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Annual total = licensing + architecture &amp; operations; 5-yr TCO includes one-time migration and training.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87752"/>
                <a:gridCol w="1170432"/>
                <a:gridCol w="1170432"/>
                <a:gridCol w="1170432"/>
                <a:gridCol w="1170432"/>
                <a:gridCol w="1170432"/>
                <a:gridCol w="118872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Licence model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S1 annual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S1 5-yr TCO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S2 annual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S2 5-yr TCO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S3 annual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S3 5-yr TCO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AWS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$72,960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$544,800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$108,720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$923,600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$169,200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$1,501,000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$89,160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$625,800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$147,120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$1,115,600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$244,200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$1,876,000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$116,192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$760,960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$126,752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$1,013,760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$145,232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$1,381,160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$157,075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$965,376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$167,635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$1,218,176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$186,115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$1,585,576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$116,100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$760,500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$126,660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$1,013,300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$145,140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$1,380,700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$81,340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$593,700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$135,880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$1,082,400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$228,400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$1,842,000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$120,700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$790,500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$226,600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$1,536,000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$404,800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$2,724,000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$131,340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$843,700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$185,880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$1,332,400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$278,400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$2,092,000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$38,760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$54,240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$769,200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$79,080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$1,245,400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$48,480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$484,400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$70,680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$851,400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$106,080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$1,380,400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Azure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$53,480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$447,400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$84,560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$802,800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$1,334,000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$69,680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$528,400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$122,960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$994,800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$210,800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$1,709,000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$96,712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$663,560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$102,592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$892,960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$111,832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$1,214,160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$137,595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$867,976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$143,475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$1,097,376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$152,715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$1,418,576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$96,620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$663,100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$102,500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$892,500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$111,740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$1,213,700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$91,950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$646,750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$150,000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$1,153,000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$249,450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$1,947,250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$131,310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$843,550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$240,720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$1,606,600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$425,850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$2,829,250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$131,340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$843,700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$185,880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$1,332,400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$278,400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$2,092,000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$54,762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$515,810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$75,624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$876,120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$111,090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$1,405,450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$64,482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$564,410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$92,064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$958,320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$138,090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</a:rPr>
                        <a:t>$1,540,450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A7. Scenario breakdown - licensing vs arch &amp; ops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S1 = 100 / 25 / 10 users, 1 TB; S2 = 250 / 50 / 20, 2 TB; S3 = 500 / 100 / 25, 5 TB.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87752"/>
                <a:gridCol w="1170432"/>
                <a:gridCol w="1170432"/>
                <a:gridCol w="1170432"/>
                <a:gridCol w="1170432"/>
                <a:gridCol w="1170432"/>
                <a:gridCol w="118872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Licence model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S1 licensing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S1 arch &amp; ops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S2 licensing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S2 arch &amp; ops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S3 licensing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S3 arch &amp; ops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AWS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$22,680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$50,280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$53,760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$38,880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$50,280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$92,160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$180,000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$65,912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$50,280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$71,792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$106,795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$50,280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$112,675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$121,915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$65,820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$50,280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$71,700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$54,960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$80,940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$64,200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$45,540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$100,080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$84,900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$369,000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$45,540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$100,080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$13,680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$29,160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$23,400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$25,080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365D"/>
                          </a:solidFill>
                        </a:rPr>
                        <a:t>Snowflake on Azure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Pro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$22,680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$53,760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$105,000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PPU - all named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$38,880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$92,160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$180,000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Reserved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$65,912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$71,792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$81,032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Fabric F64 PAYG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$106,795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$112,675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$121,915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Power BI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Premium P1 + Pro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$65,820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$71,700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$80,940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$45,540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$46,410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$100,080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$49,920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$56,850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Cloud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Tableau+ (AI tier)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$84,900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$46,410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$190,800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$49,920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$369,000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$56,850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Tableau Server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role-based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$45,540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$100,080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$192,600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$85,800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Standard Author + Reader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$13,680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$41,082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$29,160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$46,464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$54,000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$57,090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QuickSight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Author Pro + Q (AI)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$23,400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$41,082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$45,600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$46,464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$81,000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</a:rPr>
                        <a:t>$57,090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D"/>
                </a:solidFill>
              </a:rPr>
              <a:t>A8. Cross-cloud premium calculation</a:t>
            </a:r>
            <a:endParaRPr lang="en-US" sz="2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84124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Premium = cross-cloud annual architecture &amp; ops minus same-cloud; inputs editable in the Cost Simulator.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42232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Basis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Power BI (AWS)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Tableau Cloud (Azure)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QuickSight (Azure)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Transfer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TB x 1,000 x 12 x $0.09/GB x factor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$5,400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$4,050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$6,210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Incremental Snowflake compute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$12,000 x factor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$12,000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$9,000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$13,800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Gateway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Two-node EC2 gateway (Power BI)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$6,000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Cross-cloud operations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Network, security, support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$10,000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$8,000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$12,000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Annual premium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Factor: Power BI 1.00, Tableau Cloud 0.75, QuickSight 1.15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$33,400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$21,050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$32,010</a:t>
                      </a: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3484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Billing note: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Snowflake does not apply egress charges when a client or driver retrieves query results across regions or clouds. Transfer cost arises from AWS-side network egress (EC2 gateway / NAT) when Power BI reads through a gateway in IDB's VPC - treat $0.09/GB as a conservative sensitivity. Tableau Server has no premium because it is hosted beside Snowflake.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DB BI POV">
  <a:themeElements>
    <a:clrScheme name="IDB BI POV">
      <a:dk1>
        <a:srgbClr val="111827"/>
      </a:dk1>
      <a:lt1>
        <a:srgbClr val="FFFFFF"/>
      </a:lt1>
      <a:dk2>
        <a:srgbClr val="17365D"/>
      </a:dk2>
      <a:lt2>
        <a:srgbClr val="F3F6F9"/>
      </a:lt2>
      <a:accent1>
        <a:srgbClr val="0F6B78"/>
      </a:accent1>
      <a:accent2>
        <a:srgbClr val="1F4E78"/>
      </a:accent2>
      <a:accent3>
        <a:srgbClr val="7C3AED"/>
      </a:accent3>
      <a:accent4>
        <a:srgbClr val="F59E0B"/>
      </a:accent4>
      <a:accent5>
        <a:srgbClr val="15803D"/>
      </a:accent5>
      <a:accent6>
        <a:srgbClr val="B91C1C"/>
      </a:accent6>
      <a:hlink>
        <a:srgbClr val="0F6B78"/>
      </a:hlink>
      <a:folHlink>
        <a:srgbClr val="6B7280"/>
      </a:folHlink>
    </a:clrScheme>
    <a:fontScheme name="IDB BI POV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Ascendion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IDB Phase 2 - BI Platform Point of View</dc:title>
  <dc:subject>PptxGenJS Presentation</dc:subject>
  <dc:creator>PptxGenJS</dc:creator>
  <cp:lastModifiedBy>PptxGenJS</cp:lastModifiedBy>
  <cp:revision>1</cp:revision>
  <dcterms:created xsi:type="dcterms:W3CDTF">2026-10-23T12:31:37Z</dcterms:created>
  <dcterms:modified xsi:type="dcterms:W3CDTF">2026-10-23T12:31:37Z</dcterms:modified>
</cp:coreProperties>
</file>