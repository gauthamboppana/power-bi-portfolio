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int of View" id="{17c6f90c-1356-8c71-6917-57bf37a575de}">
          <p14:sldIdLst>
            <p14:sldId id="256"/>
            <p14:sldId id="257"/>
            <p14:sldId id="258"/>
            <p14:sldId id="259"/>
            <p14:sldId id="260"/>
          </p14:sldIdLst>
        </p14:section>
        <p14:section name="Economics" id="{475da4e4-7dcb-2d8e-d5b0-201d0bb786b0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commendation" id="{0b40b44d-bd70-77f3-0d0c-51b9a9624563}">
          <p14:sldIdLst>
            <p14:sldId id="267"/>
            <p14:sldId id="268"/>
          </p14:sldIdLst>
        </p14:section>
        <p14:section name="Appendix" id="{332c63f9-1709-8688-5d7c-aa641e709cf1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Snowflake on AWS</c:v>
                </c:pt>
              </c:strCache>
            </c:strRef>
          </c:tx>
          <c:spPr>
            <a:solidFill>
              <a:srgbClr val="0F6B78"/>
            </a:solidFill>
            <a:effectLst/>
          </c:spPr>
          <c:invertIfNegative val="0"/>
          <c:dLbls>
            <c:numFmt formatCode="$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Power BI - F64 Reserved</c:v>
                  </c:pt>
                  <c:pt idx="1">
                    <c:v>Power BI - Pro</c:v>
                  </c:pt>
                  <c:pt idx="2">
                    <c:v>Tableau Cloud</c:v>
                  </c:pt>
                  <c:pt idx="3">
                    <c:v>Tableau Server</c:v>
                  </c:pt>
                  <c:pt idx="4">
                    <c:v>QuickSight Standard</c:v>
                  </c:pt>
                  <c:pt idx="5">
                    <c:v>QuickSight Author Pro (AI)</c:v>
                  </c:pt>
                  <c:pt idx="6">
                    <c:v>Tableau+ (AI)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1.32</c:v>
                </c:pt>
                <c:pt idx="1">
                  <c:v>1.44</c:v>
                </c:pt>
                <c:pt idx="2">
                  <c:v>1.5</c:v>
                </c:pt>
                <c:pt idx="3">
                  <c:v>1.75</c:v>
                </c:pt>
                <c:pt idx="4">
                  <c:v>1.14</c:v>
                </c:pt>
                <c:pt idx="5">
                  <c:v>1.2</c:v>
                </c:pt>
                <c:pt idx="6">
                  <c:v>2.21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Snowflake on Azure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$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Power BI - F64 Reserved</c:v>
                  </c:pt>
                  <c:pt idx="1">
                    <c:v>Power BI - Pro</c:v>
                  </c:pt>
                  <c:pt idx="2">
                    <c:v>Tableau Cloud</c:v>
                  </c:pt>
                  <c:pt idx="3">
                    <c:v>Tableau Server</c:v>
                  </c:pt>
                  <c:pt idx="4">
                    <c:v>QuickSight Standard</c:v>
                  </c:pt>
                  <c:pt idx="5">
                    <c:v>QuickSight Author Pro (AI)</c:v>
                  </c:pt>
                  <c:pt idx="6">
                    <c:v>Tableau+ (AI)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1.15</c:v>
                </c:pt>
                <c:pt idx="1">
                  <c:v>1.27</c:v>
                </c:pt>
                <c:pt idx="2">
                  <c:v>1.61</c:v>
                </c:pt>
                <c:pt idx="3">
                  <c:v>1.75</c:v>
                </c:pt>
                <c:pt idx="4">
                  <c:v>1.3</c:v>
                </c:pt>
                <c:pt idx="5">
                  <c:v>1.36</c:v>
                </c:pt>
                <c:pt idx="6">
                  <c:v>2.31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65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65D"/>
                </a:solidFill>
                <a:latin typeface="+mn-lt"/>
              </a:rPr>
              <a:t>Annual cross-cloud premium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Transfer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Power BI (Snowflake on AWS)</c:v>
                  </c:pt>
                  <c:pt idx="1">
                    <c:v>Tableau Cloud (Snowflake on Azure)</c:v>
                  </c:pt>
                  <c:pt idx="2">
                    <c:v>QuickSight (Snowflake on Azure)</c:v>
                  </c:pt>
                  <c:pt idx="3">
                    <c:v>Tableau Server (either cloud)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</c:v>
                </c:pt>
                <c:pt idx="1">
                  <c:v>4.05</c:v>
                </c:pt>
                <c:pt idx="2">
                  <c:v>6.21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Incremental Snowflake compute</c:v>
                </c:pt>
              </c:strCache>
            </c:strRef>
          </c:tx>
          <c:spPr>
            <a:solidFill>
              <a:srgbClr val="0F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Power BI (Snowflake on AWS)</c:v>
                  </c:pt>
                  <c:pt idx="1">
                    <c:v>Tableau Cloud (Snowflake on Azure)</c:v>
                  </c:pt>
                  <c:pt idx="2">
                    <c:v>QuickSight (Snowflake on Azure)</c:v>
                  </c:pt>
                  <c:pt idx="3">
                    <c:v>Tableau Server (either cloud)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9</c:v>
                </c:pt>
                <c:pt idx="2">
                  <c:v>13.8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Gateway</c:v>
                </c:pt>
              </c:strCache>
            </c:strRef>
          </c:tx>
          <c:spPr>
            <a:solidFill>
              <a:srgbClr val="17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Power BI (Snowflake on AWS)</c:v>
                  </c:pt>
                  <c:pt idx="1">
                    <c:v>Tableau Cloud (Snowflake on Azure)</c:v>
                  </c:pt>
                  <c:pt idx="2">
                    <c:v>QuickSight (Snowflake on Azure)</c:v>
                  </c:pt>
                  <c:pt idx="3">
                    <c:v>Tableau Server (either cloud)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Cross-cloud operations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Power BI (Snowflake on AWS)</c:v>
                  </c:pt>
                  <c:pt idx="1">
                    <c:v>Tableau Cloud (Snowflake on Azure)</c:v>
                  </c:pt>
                  <c:pt idx="2">
                    <c:v>QuickSight (Snowflake on Azure)</c:v>
                  </c:pt>
                  <c:pt idx="3">
                    <c:v>Tableau Server (either cloud)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</c:v>
                </c:pt>
                <c:pt idx="1">
                  <c:v>8</c:v>
                </c:pt>
                <c:pt idx="2">
                  <c:v>12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$0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65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65D"/>
                </a:solidFill>
                <a:latin typeface="+mn-lt"/>
              </a:rPr>
              <a:t>Annual Power BI cross-cloud premium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Residual premium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$0.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8A0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+ Import / incremental refresh</c:v>
                  </c:pt>
                  <c:pt idx="2">
                    <c:v>+ Private path</c:v>
                  </c:pt>
                  <c:pt idx="3">
                    <c:v>+ Snowflake tuning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33.4</c:v>
                </c:pt>
                <c:pt idx="1">
                  <c:v>29.08</c:v>
                </c:pt>
                <c:pt idx="2">
                  <c:v>28.24</c:v>
                </c:pt>
                <c:pt idx="3">
                  <c:v>22.24</c:v>
                </c:pt>
              </c:numCache>
            </c:numRef>
          </c:val>
        </c:ser>
        <c:dLbls>
          <c:numFmt formatCode="$0.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65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65D"/>
                </a:solidFill>
                <a:latin typeface="+mn-lt"/>
              </a:rPr>
              <a:t>Annual licensing at baseline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licensing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$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7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Power BI Pro - all</c:v>
                  </c:pt>
                  <c:pt idx="1">
                    <c:v>Power BI PPU - all</c:v>
                  </c:pt>
                  <c:pt idx="2">
                    <c:v>Fabric F64 Reserved + Pro</c:v>
                  </c:pt>
                  <c:pt idx="3">
                    <c:v>Fabric F64 PAYG + Pro</c:v>
                  </c:pt>
                  <c:pt idx="4">
                    <c:v>Tableau Standard</c:v>
                  </c:pt>
                  <c:pt idx="5">
                    <c:v>Tableau+ (floor)</c:v>
                  </c:pt>
                  <c:pt idx="6">
                    <c:v>QuickSight Standard</c:v>
                  </c:pt>
                  <c:pt idx="7">
                    <c:v>QuickSight Author Pro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92.4</c:v>
                </c:pt>
                <c:pt idx="1">
                  <c:v>158.4</c:v>
                </c:pt>
                <c:pt idx="2">
                  <c:v>68.4</c:v>
                </c:pt>
                <c:pt idx="3">
                  <c:v>109.3</c:v>
                </c:pt>
                <c:pt idx="4">
                  <c:v>125.1</c:v>
                </c:pt>
                <c:pt idx="5">
                  <c:v>265.5</c:v>
                </c:pt>
                <c:pt idx="6">
                  <c:v>32.4</c:v>
                </c:pt>
                <c:pt idx="7">
                  <c:v>45</c:v>
                </c:pt>
              </c:numCache>
            </c:numRef>
          </c:val>
        </c:ser>
        <c:dLbls>
          <c:numFmt formatCode="$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IDB Phase 2  |  BI Platform Point of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6751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Confidential  |  23 October 2026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7365D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B7280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image" descr="/home/claude/work/pp/img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899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78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DD3FC"/>
                </a:solidFill>
              </a:rPr>
              <a:t>ENTERPRISE BI PLATFORM STRATEGY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IDB Phase 2: BI Platform Point of View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Power BI vs Tableau vs Amazon QuickSight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4747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conditional platform recommendation aligned to the Snowflake hosting decision, enterprise reporting needs, governance and five-year total cost of ownership.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Prepared by Ascendion  |  23 October 2026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Select the BI platform as part of the target cloud and data architecture, not as an isolated product decision.</a:t>
            </a:r>
            <a:endParaRPr lang="en-US" sz="1400" dirty="0"/>
          </a:p>
        </p:txBody>
      </p:sp>
      <p:sp>
        <p:nvSpPr>
          <p:cNvPr id="4" name="card If Snowflake is on AWS"/>
          <p:cNvSpPr/>
          <p:nvPr/>
        </p:nvSpPr>
        <p:spPr>
          <a:xfrm>
            <a:off x="457200" y="141732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367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5453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If Snowflake is on AWS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65960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QuickSight leads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Strongest native alignment and lowest five-year TCO ($1.14M). Tableau Cloud is the cloud-neutral alternative with no cross-cloud premium. Power BI remains viable with cross-cloud controls.</a:t>
            </a:r>
            <a:endParaRPr lang="en-US" sz="1300" dirty="0"/>
          </a:p>
        </p:txBody>
      </p:sp>
      <p:sp>
        <p:nvSpPr>
          <p:cNvPr id="8" name="card If Snowflake is on Azure"/>
          <p:cNvSpPr/>
          <p:nvPr/>
        </p:nvSpPr>
        <p:spPr>
          <a:xfrm>
            <a:off x="4251960" y="141732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53128" y="163677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5453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If Snowflake is on Azure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965960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Power BI leads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Best M365, Entra ID and Fabric alignment. Fabric F64 Reserved is the lowest Azure TCO ($1.15M). Tableau remains viable; QuickSight becomes cross-cloud.</a:t>
            </a:r>
            <a:endParaRPr lang="en-US" sz="1300" dirty="0"/>
          </a:p>
        </p:txBody>
      </p:sp>
      <p:sp>
        <p:nvSpPr>
          <p:cNvPr id="12" name="card If cloud is unresolved"/>
          <p:cNvSpPr/>
          <p:nvPr/>
        </p:nvSpPr>
        <p:spPr>
          <a:xfrm>
            <a:off x="8046720" y="141732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7888" y="163677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9640" y="15453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If cloud is unresolved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1965960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Tableau benchmark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Keep Phase 2 cloud-neutral and use Tableau as the benchmark. Defer the final standard until the cloud, FIS-to-Snowflake readiness and operating model are confirmed.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$1.14M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Lowest 5-year TCO - QuickSight with Snowflake on AWS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$1.15M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Lowest 5-year TCO on Azure - Power BI Fabric F64 Reserved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$33.4K/yr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Power BI premium when Snowflake is on AWS rather than Azure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4160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803D"/>
                </a:solidFill>
              </a:rPr>
              <a:t>$22.2K/yr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Premium after Import-first design and Snowflake tuning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Tableau is the neutral benchmark while hosting is open; QuickSight leads on AWS, Power BI on Azure.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Why the decision is conditional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Five transformation programmes are moving in parallel; the BI choice depends on all of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On-premises today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64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Phase 2 cannot assume cloud readiness.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50008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04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Snowflake cloud unresolved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AWS is preferred; Azure remains a multi-cloud option.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91256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45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FIS migration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47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Dataset completeness, reconciliation and refresh SLA remain open.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032504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867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Reporting consolidation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2885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Cognos, Tableau, Power BI and Crystal create duplicated support; Qlik has been retired.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873752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828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Operating model transition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129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Platform ownership and L1/L2/L3 boundaries must be defined.</a:t>
            </a:r>
            <a:endParaRPr lang="en-US" sz="1300" dirty="0"/>
          </a:p>
        </p:txBody>
      </p:sp>
      <p:pic>
        <p:nvPicPr>
          <p:cNvPr id="24" name="context image" descr="/home/claude/work/pp/im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63040"/>
            <a:ext cx="5422392" cy="2706624"/>
          </a:xfrm>
          <a:prstGeom prst="rect">
            <a:avLst/>
          </a:prstGeom>
        </p:spPr>
      </p:pic>
      <p:sp>
        <p:nvSpPr>
          <p:cNvPr id="25" name="card What IDB has told us"/>
          <p:cNvSpPr/>
          <p:nvPr/>
        </p:nvSpPr>
        <p:spPr>
          <a:xfrm>
            <a:off x="6309360" y="4343400"/>
            <a:ext cx="5422392" cy="1280160"/>
          </a:xfrm>
          <a:prstGeom prst="roundRect">
            <a:avLst>
              <a:gd name="adj" fmla="val 571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510528" y="4471416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What IDB has told us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510528" y="4892040"/>
            <a:ext cx="5056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Saravanan: Power BI may not suit IDB if data must move from AWS to Azure; standardising on QuickSight could be considered. Tableau is in use, Cognos serves LoanIQ and Actimize, Crystal remains.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platform decision must follow evidence, not cloud preference alone.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Capability comparison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All three are viable. Differentiation sits in semantic governance, visual exploration and cloud-native operations.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Power BI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Tableau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QuickSight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Enterprise semantic layer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Ad hoc visual exploration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Pixel-perfect reporting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Data preparation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Governance and lineage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Conversational / AI analytics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M365 integration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AWS-native integration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Deployment portability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Operational overhead (5 = lowest)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Skills availability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5" name="card Power BI"/>
          <p:cNvSpPr/>
          <p:nvPr/>
        </p:nvSpPr>
        <p:spPr>
          <a:xfrm>
            <a:off x="7498080" y="1417320"/>
            <a:ext cx="4233672" cy="1298448"/>
          </a:xfrm>
          <a:prstGeom prst="roundRect">
            <a:avLst>
              <a:gd name="adj" fmla="val 563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99248" y="163677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545336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Power BI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99248" y="19659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Strongest governed semantic layer (DAX), paginated reporting and M365 / Copilot integration.</a:t>
            </a:r>
            <a:endParaRPr lang="en-US" sz="1300" dirty="0"/>
          </a:p>
        </p:txBody>
      </p:sp>
      <p:sp>
        <p:nvSpPr>
          <p:cNvPr id="9" name="card Tableau"/>
          <p:cNvSpPr/>
          <p:nvPr/>
        </p:nvSpPr>
        <p:spPr>
          <a:xfrm>
            <a:off x="7498080" y="2852928"/>
            <a:ext cx="4233672" cy="1298448"/>
          </a:xfrm>
          <a:prstGeom prst="roundRect">
            <a:avLst>
              <a:gd name="adj" fmla="val 563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99248" y="307238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980944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Tableau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99248" y="3401568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Best visual exploration and cloud-neutral deployment; reuses IDB's existing Tableau footprint.</a:t>
            </a:r>
            <a:endParaRPr lang="en-US" sz="1300" dirty="0"/>
          </a:p>
        </p:txBody>
      </p:sp>
      <p:sp>
        <p:nvSpPr>
          <p:cNvPr id="13" name="card Amazon QuickSight"/>
          <p:cNvSpPr/>
          <p:nvPr/>
        </p:nvSpPr>
        <p:spPr>
          <a:xfrm>
            <a:off x="7498080" y="4288536"/>
            <a:ext cx="4233672" cy="1298448"/>
          </a:xfrm>
          <a:prstGeom prst="roundRect">
            <a:avLst>
              <a:gd name="adj" fmla="val 563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99248" y="45079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416552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Amazon QuickSight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99248" y="4837176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Best AWS-native fit, serverless operations and lowest licence cost; weaker semantic modelling.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5 = leading, 4 = strong, 3 = adequate with design considerations. Validate Cognos replacement, security and concurrency with IDB workloads.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Target architecture position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Keep the serving layer open and place interactive analytics close to the authoritative data platform.</a:t>
            </a:r>
            <a:endParaRPr lang="en-US" sz="1400" dirty="0"/>
          </a:p>
        </p:txBody>
      </p:sp>
      <p:pic>
        <p:nvPicPr>
          <p:cNvPr id="4" name="architecture image" descr="/home/claude/work/pp/img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2834640"/>
          </a:xfrm>
          <a:prstGeom prst="rect">
            <a:avLst/>
          </a:prstGeom>
        </p:spPr>
      </p:pic>
      <p:sp>
        <p:nvSpPr>
          <p:cNvPr id="5" name="card Clarification"/>
          <p:cNvSpPr/>
          <p:nvPr/>
        </p:nvSpPr>
        <p:spPr>
          <a:xfrm>
            <a:off x="457200" y="443484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FF3CD"/>
          </a:solidFill>
          <a:ln w="9525">
            <a:solidFill>
              <a:srgbClr val="F2D27A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58368" y="4562856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Clarification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498348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Power BI does not require Snowflake data to move to Azure. The issue is cross-cloud transfer, latency, security and operating cost - not database relocation.</a:t>
            </a:r>
            <a:endParaRPr lang="en-US" sz="1200" dirty="0"/>
          </a:p>
        </p:txBody>
      </p:sp>
      <p:sp>
        <p:nvSpPr>
          <p:cNvPr id="8" name="card Power BI"/>
          <p:cNvSpPr/>
          <p:nvPr/>
        </p:nvSpPr>
        <p:spPr>
          <a:xfrm>
            <a:off x="6400800" y="1417320"/>
            <a:ext cx="5330952" cy="1353312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01968" y="163677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154533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Power BI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01968" y="1965960"/>
            <a:ext cx="4965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AWS: Power BI service (Azure) reads AWS Snowflake - cross-cloud; Import-first and gateway design required.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Azure: same-cloud; strongest Entra / M365 / Fabric alignment.</a:t>
            </a:r>
            <a:endParaRPr lang="en-US" sz="1150" dirty="0"/>
          </a:p>
        </p:txBody>
      </p:sp>
      <p:sp>
        <p:nvSpPr>
          <p:cNvPr id="12" name="card Tableau"/>
          <p:cNvSpPr/>
          <p:nvPr/>
        </p:nvSpPr>
        <p:spPr>
          <a:xfrm>
            <a:off x="6400800" y="2834640"/>
            <a:ext cx="5330952" cy="1353312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01968" y="30540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296265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Tableau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3383280"/>
            <a:ext cx="4965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AWS: Tableau Cloud runs on Hyperforce on AWS - same-cloud when regions match.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Azure: Tableau Cloud is cross-cloud; Tableau Server on Azure avoids it.</a:t>
            </a:r>
            <a:endParaRPr lang="en-US" sz="1150" dirty="0"/>
          </a:p>
        </p:txBody>
      </p:sp>
      <p:sp>
        <p:nvSpPr>
          <p:cNvPr id="16" name="card QuickSight"/>
          <p:cNvSpPr/>
          <p:nvPr/>
        </p:nvSpPr>
        <p:spPr>
          <a:xfrm>
            <a:off x="6400800" y="4251960"/>
            <a:ext cx="5330952" cy="1353312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01968" y="44714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437997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QuickSight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4800600"/>
            <a:ext cx="4965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AWS: strongest native fit - IAM, VPC and regional alignment.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Azure: cross-cloud access removes QuickSight's main architectural advantage.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Economics and architecture premium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Five-year TCO, scenarios, the cross-cloud premium and AI licensing - all figures from the IDB BI Cost Simulator v2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Five-year TCO depends on where Snowflake is hosted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Baseline: 500 consumers, 25 developers, 25 explorers, 5 TB/month; includes one-time migration and training.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2237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Snowflake on AWS"/>
          <p:cNvSpPr/>
          <p:nvPr/>
        </p:nvSpPr>
        <p:spPr>
          <a:xfrm>
            <a:off x="7955280" y="1371600"/>
            <a:ext cx="3776472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56448" y="1591056"/>
            <a:ext cx="201168" cy="201168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499616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Snowflake on AWS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56448" y="1920240"/>
            <a:ext cx="3410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QuickSight $1.14M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F64 Reserved $1.32M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Tableau Cloud $1.50M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Pro $1.44M</a:t>
            </a:r>
            <a:endParaRPr lang="en-US" sz="1300" dirty="0"/>
          </a:p>
        </p:txBody>
      </p:sp>
      <p:sp>
        <p:nvSpPr>
          <p:cNvPr id="9" name="card Snowflake on Azure"/>
          <p:cNvSpPr/>
          <p:nvPr/>
        </p:nvSpPr>
        <p:spPr>
          <a:xfrm>
            <a:off x="7955280" y="3520440"/>
            <a:ext cx="3776472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156448" y="373989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3648456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Snowflake on Azure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156448" y="4069080"/>
            <a:ext cx="3410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F64 Reserved $1.15M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Pro $1.27M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QuickSight $1.30M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Tableau Cloud $1.61M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Fabric F64 Reserved saves $119,840 over five years vs Pro at 500 consumers. PPU is never the lowest Power BI option.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Total cost by scenario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Five-year TCO for the leading configurations at three IDB adoption scales (all 20 configurations in the appendix).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325880"/>
                <a:gridCol w="1325880"/>
                <a:gridCol w="13258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S1 Small (100 consumers)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S2 Medium (250)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S3 Large (500)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7432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$532,200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$894,200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$1,438,000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$604,200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$1,065,200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$1,768,000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$748,360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$984,360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$1,318,160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$526,200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$924,900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$1,504,500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$776,200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$1,174,900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$1,754,500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$414,200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$718,800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$1,137,400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$434,800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$773,400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$1,271,000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$506,800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$944,400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$1,601,000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$650,960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$863,560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$1,151,160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$579,250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$995,500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$1,609,750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$776,200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$1,174,900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$1,754,500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$494,210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$825,720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$1,297,450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card What the scenarios show"/>
          <p:cNvSpPr/>
          <p:nvPr/>
        </p:nvSpPr>
        <p:spPr>
          <a:xfrm>
            <a:off x="8412480" y="1371600"/>
            <a:ext cx="3319272" cy="4251960"/>
          </a:xfrm>
          <a:prstGeom prst="roundRect">
            <a:avLst>
              <a:gd name="adj" fmla="val 220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13648" y="149961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What the scenarios show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13648" y="1920240"/>
            <a:ext cx="2953512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QuickSight on AWS is the lowest TCO at every scale.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On Azure, Power BI Pro wins at S1 and S2; F64 Reserved wins at S3 because viewers are free above ~357 consumers.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Tableau Server costs the same in either cloud - placement control at higher operations cost.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Scenario definitions: S1 100/10/10 users, 1 TB; S2 250/15/20, 2 TB; S3 500/25/25, 5 TB.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897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Green = lowest in cloud and scenario. Gold = recommended Power BI model.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Power BI on AWS-hosted Snowflake costs ~$33.4K/yr more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Answer to the question raised: how large is the cross-cloud premium, and does Tableau face the same challenge?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$33.4K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Annual premium (all Power BI licence models)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$167.0K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Five-year premium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12.7%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 Power BI F64 Reserved five-year TCO on AWS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108960" y="137160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ard Same issue for Tableau?"/>
          <p:cNvSpPr/>
          <p:nvPr/>
        </p:nvSpPr>
        <p:spPr>
          <a:xfrm>
            <a:off x="8503920" y="1371600"/>
            <a:ext cx="3227832" cy="4206240"/>
          </a:xfrm>
          <a:prstGeom prst="roundRect">
            <a:avLst>
              <a:gd name="adj" fmla="val 2266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705088" y="159105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06840" y="1499616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Same issue for Tableau?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05088" y="1920240"/>
            <a:ext cx="286207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Not on AWS.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Tableau Cloud runs on Salesforce Hyperforce on AWS, so with Snowflake on AWS there is no cross-cloud premium.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11827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Reversed on Azure.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Tableau Cloud carries ~$21.1K/yr if Snowflake is on Azure.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11827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Tableau Server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avoids it in either cloud by being hosted next to Snowflake, at higher infra and operations cost.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Transfer line = AWS-side gateway egress (Snowflake does not bill driver query results) - confirm in PoV.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Reducing the Power BI premium on AWS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Three architecture levers cut the premium by about a third; moving to Fabric F64 Reserved saves another ~$24K/yr in licensing.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1. Import + incremental refresh + aggregations"/>
          <p:cNvSpPr/>
          <p:nvPr/>
        </p:nvSpPr>
        <p:spPr>
          <a:xfrm>
            <a:off x="6492240" y="1371600"/>
            <a:ext cx="5239512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693408" y="1499616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1. Import + incremental refresh + aggregations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93408" y="1920240"/>
            <a:ext cx="4873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Saves $4,320/yr. Move only changed partitions; DirectQuery only for freshness-critical visuals.</a:t>
            </a:r>
            <a:endParaRPr lang="en-US" sz="1200" dirty="0"/>
          </a:p>
        </p:txBody>
      </p:sp>
      <p:sp>
        <p:nvSpPr>
          <p:cNvPr id="8" name="card 2. Private path (Direct Connect / interconnect)"/>
          <p:cNvSpPr/>
          <p:nvPr/>
        </p:nvSpPr>
        <p:spPr>
          <a:xfrm>
            <a:off x="6492240" y="2441448"/>
            <a:ext cx="5239512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693408" y="256946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2. Private path (Direct Connect / interconnect)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93408" y="2990088"/>
            <a:ext cx="4873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Saves $840/yr at $0.02/GB. Circuit and port fees excluded; pays off at higher volumes.</a:t>
            </a:r>
            <a:endParaRPr lang="en-US" sz="1200" dirty="0"/>
          </a:p>
        </p:txBody>
      </p:sp>
      <p:sp>
        <p:nvSpPr>
          <p:cNvPr id="11" name="card 3. Snowflake workload tuning"/>
          <p:cNvSpPr/>
          <p:nvPr/>
        </p:nvSpPr>
        <p:spPr>
          <a:xfrm>
            <a:off x="6492240" y="3511296"/>
            <a:ext cx="5239512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693408" y="3639312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3. Snowflake workload tuning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693408" y="4059936"/>
            <a:ext cx="4873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Saves $6,000/yr. Dedicated right-sized BI warehouse, result cache, aggregates, 60-second auto-suspend.</a:t>
            </a:r>
            <a:endParaRPr lang="en-US" sz="1200" dirty="0"/>
          </a:p>
        </p:txBody>
      </p:sp>
      <p:sp>
        <p:nvSpPr>
          <p:cNvPr id="14" name="card Licensing: Fabric F64 Reserved instead of Pro"/>
          <p:cNvSpPr/>
          <p:nvPr/>
        </p:nvSpPr>
        <p:spPr>
          <a:xfrm>
            <a:off x="6492240" y="4581144"/>
            <a:ext cx="5239512" cy="960120"/>
          </a:xfrm>
          <a:prstGeom prst="roundRect">
            <a:avLst>
              <a:gd name="adj" fmla="val 7619"/>
            </a:avLst>
          </a:prstGeom>
          <a:solidFill>
            <a:srgbClr val="FFF3CD"/>
          </a:solidFill>
          <a:ln w="9525">
            <a:solidFill>
              <a:srgbClr val="F2D27A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693408" y="4709160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Licensing: Fabric F64 Reserved instead of Pro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693408" y="5129784"/>
            <a:ext cx="4873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Saves $23,968/yr at 500 consumers - offsets ~72% of the premium. Copilot runs on the capacity.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Optimised premium ~$22.2K/yr ($111,200 over 5 years); residual is gateway + cross-cloud operations.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Licensing and AI considerations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AI value is not included uniformly in base BI licences; price the AI tier for the users who need it.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6692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Annual AI uplift vs standard tier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3309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44752"/>
                <a:gridCol w="850392"/>
                <a:gridCol w="850392"/>
                <a:gridCol w="85953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S1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S3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 Copilot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Paid Fabric F2+ / P1+ capacity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 on F64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 on F64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 on F64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Tableau+ (AI, Agentforce)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Quote-only bundle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+$32,160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+$73,920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+$140,400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Author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$40 vs $24 + $250/mo fee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+$6,840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+$9,720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+$12,600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7" name="card Points to note"/>
          <p:cNvSpPr/>
          <p:nvPr/>
        </p:nvSpPr>
        <p:spPr>
          <a:xfrm>
            <a:off x="6400800" y="3703320"/>
            <a:ext cx="533095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601968" y="3831336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Points to note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601968" y="4251960"/>
            <a:ext cx="49651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F64 Reserved beats Pro above ~357 consumers; F64 PAYG needs ~601.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Premium P1 is legacy - Microsoft no longer sells new P SKUs.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Tableau+ is quote-only; Enterprise list ($115 / $70 / $35) used as a floor.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Copilot consumes F64 capacity units - size it in the PoV.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Fabric Mirroring is an optimisation, not a selection criterion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Use mirroring only when measured savings and broader Fabric value exceed incremental platform and governance cost.</a:t>
            </a:r>
            <a:endParaRPr lang="en-US" sz="1400" dirty="0"/>
          </a:p>
        </p:txBody>
      </p:sp>
      <p:sp>
        <p:nvSpPr>
          <p:cNvPr id="4" name="card Optimise Import"/>
          <p:cNvSpPr/>
          <p:nvPr/>
        </p:nvSpPr>
        <p:spPr>
          <a:xfrm>
            <a:off x="457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Optimise Import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Curated models, aggregations, incremental refresh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card Selective DirectQuery"/>
          <p:cNvSpPr/>
          <p:nvPr/>
        </p:nvSpPr>
        <p:spPr>
          <a:xfrm>
            <a:off x="2743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44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Selective DirectQuery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Freshness-sensitive detail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card Measure workload"/>
          <p:cNvSpPr/>
          <p:nvPr/>
        </p:nvSpPr>
        <p:spPr>
          <a:xfrm>
            <a:off x="5029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30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Measure workload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Snowflake credits, egress, latency, concurrency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card Evaluate mirroring"/>
          <p:cNvSpPr/>
          <p:nvPr/>
        </p:nvSpPr>
        <p:spPr>
          <a:xfrm>
            <a:off x="7315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E0F2F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16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Evaluate mirroring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High reuse + broader Fabric adoption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card Rebuild controls"/>
          <p:cNvSpPr/>
          <p:nvPr/>
        </p:nvSpPr>
        <p:spPr>
          <a:xfrm>
            <a:off x="9601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02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Rebuild controls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RLS/CLS, monitoring, reseed management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424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24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card Potential value"/>
          <p:cNvSpPr/>
          <p:nvPr/>
        </p:nvSpPr>
        <p:spPr>
          <a:xfrm>
            <a:off x="457200" y="3474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" y="3694176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Potential value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402336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Fewer repetitive Snowflake BI queries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Enables Fabric BI, engineering and data science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Direct Lake performance</a:t>
            </a:r>
            <a:endParaRPr lang="en-US" sz="1200" dirty="0"/>
          </a:p>
        </p:txBody>
      </p:sp>
      <p:sp>
        <p:nvSpPr>
          <p:cNvPr id="33" name="card Material constraints"/>
          <p:cNvSpPr/>
          <p:nvPr/>
        </p:nvSpPr>
        <p:spPr>
          <a:xfrm>
            <a:off x="4288536" y="3474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9704" y="3694176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91456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Material constraints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489704" y="402336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Second governed copy; 1,000-table limit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Snowflake RLS/CLS do not replicate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Views sync every 12 hours; reseed risk</a:t>
            </a:r>
            <a:endParaRPr lang="en-US" sz="1200" dirty="0"/>
          </a:p>
        </p:txBody>
      </p:sp>
      <p:sp>
        <p:nvSpPr>
          <p:cNvPr id="37" name="card IDB position"/>
          <p:cNvSpPr/>
          <p:nvPr/>
        </p:nvSpPr>
        <p:spPr>
          <a:xfrm>
            <a:off x="8119872" y="3474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21040" y="3694176"/>
            <a:ext cx="201168" cy="20116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22792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IDB position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402336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Relevant for the 500-consumer / 5 TB case only if Fabric is adopted strategically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Start with optimised Import / composite models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with optimised Import/composite models; mirror only after workload evidence supports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Decision framework and next steps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Run a time-boxed technical and commercial assessment before standardising.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78"/>
                </a:solidFill>
              </a:rPr>
              <a:t>20%  </a:t>
            </a:r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Cloud &amp; architecture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91840" y="14173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78"/>
                </a:solidFill>
              </a:rPr>
              <a:t>15%  </a:t>
            </a:r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Cognos replacement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417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78"/>
                </a:solidFill>
              </a:rPr>
              <a:t>15%  </a:t>
            </a:r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Semantic governance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961120" y="14173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98280" y="1417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78"/>
                </a:solidFill>
              </a:rPr>
              <a:t>15%  </a:t>
            </a:r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Performance &amp; scale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78"/>
                </a:solidFill>
              </a:rPr>
              <a:t>15%  </a:t>
            </a:r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Five-year TCO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91840" y="22860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78"/>
                </a:solidFill>
              </a:rPr>
              <a:t>10%  </a:t>
            </a:r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AI &amp; conversational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78"/>
                </a:solidFill>
              </a:rPr>
              <a:t>5%  </a:t>
            </a:r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Operating model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61120" y="22860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78"/>
                </a:solidFill>
              </a:rPr>
              <a:t>5%  </a:t>
            </a:r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Portability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Decision gates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767328"/>
            <a:ext cx="274320" cy="27432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37307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Confirm AWS / Azure / multi-cloud direction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274320" cy="27432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1330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Confirm FIS dataset catalogue and refresh SLA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274320" cy="27432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53542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Confirm identity, private connectivity and regulatory controls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974336"/>
            <a:ext cx="274320" cy="27432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49377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Obtain comparable five-year commercial quotes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5376672"/>
            <a:ext cx="274320" cy="27432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5376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3400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Run IDB workload proof of value and finalise scoring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75120" y="3291840"/>
            <a:ext cx="5056632" cy="2377440"/>
          </a:xfrm>
          <a:prstGeom prst="roundRect">
            <a:avLst>
              <a:gd name="adj" fmla="val 4615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342900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Recommended path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</a:rPr>
              <a:t>Protect Phase 2 with a cloud-neutral design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</a:rPr>
              <a:t>Use Tableau as the neutral benchmark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</a:rPr>
              <a:t>Select QuickSight if AWS is confirmed and reporting fit is proven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</a:rPr>
              <a:t>Select Power BI on Fabric F64 Reserved if Azure is confirmed or Fabric is adopted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2E8F0"/>
                </a:solidFill>
              </a:rPr>
              <a:t>Plug vendor quotes into the Cost Simulator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Detailed calculations, assumptions and validated sources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A1. Cost model and assumptions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All figures are planning estimates from public list prices; replace with IDB quotes and PoV measurements.</a:t>
            </a:r>
            <a:endParaRPr lang="en-US" sz="1400" dirty="0"/>
          </a:p>
        </p:txBody>
      </p:sp>
      <p:sp>
        <p:nvSpPr>
          <p:cNvPr id="4" name="card Cost model"/>
          <p:cNvSpPr/>
          <p:nvPr/>
        </p:nvSpPr>
        <p:spPr>
          <a:xfrm>
            <a:off x="457200" y="1371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EF5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499616"/>
            <a:ext cx="10936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Cost 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20240"/>
            <a:ext cx="10908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Annual run-rate = BI licences or capacity + Snowflake BI compute + data transfer + gateway / server infrastructure + administration / support.   Five-year TCO = 5 x run-rate + one-time migration + training (0% inflation).</a:t>
            </a:r>
            <a:endParaRPr lang="en-US" sz="1200" dirty="0"/>
          </a:p>
        </p:txBody>
      </p:sp>
      <p:sp>
        <p:nvSpPr>
          <p:cNvPr id="7" name="card Workload and one-time costs"/>
          <p:cNvSpPr/>
          <p:nvPr/>
        </p:nvSpPr>
        <p:spPr>
          <a:xfrm>
            <a:off x="457200" y="251460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" y="2642616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Workload and one-time costs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63240"/>
            <a:ext cx="51663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Baseline: 500 consumers, 25 developers, 25 explorers, 100 peak concurrent, 5 TB/month, 250 reports (estate ~280).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Explorers licensed as author-class users on every platform (like-for-like).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Migration per report: Power BI $2,500, Tableau $2,700, QuickSight $3,200.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Training: Power BI $30K, Tableau $25K, QuickSight $50K.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One-time totals: Power BI $655K, Tableau $700K, QuickSight $850K.</a:t>
            </a:r>
            <a:endParaRPr lang="en-US" sz="1200" dirty="0"/>
          </a:p>
        </p:txBody>
      </p:sp>
      <p:sp>
        <p:nvSpPr>
          <p:cNvPr id="10" name="card Architecture and Snowflake"/>
          <p:cNvSpPr/>
          <p:nvPr/>
        </p:nvSpPr>
        <p:spPr>
          <a:xfrm>
            <a:off x="6199632" y="251460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2642616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Architecture and Snowflake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063240"/>
            <a:ext cx="51663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Snowflake $3.00/credit (Enterprise, AWS US East); 300 credits/month (280 for QuickSight).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Cross-cloud: $0.09/GB transfer, $12K/yr incremental compute, $6K/yr AWS gateway, $10K/yr operations (Power BI on AWS).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Factors: Tableau Cloud on Azure Snowflake 0.75; on AWS 0 (Hyperforce on AWS). QuickSight on Azure Snowflake 1.15.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Platform operations / yr: Power BI $20K, Tableau Cloud $25K, Tableau Server $45K + $30K infra, QuickSight $15K.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A2. Validated list prices (23 October 2026)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Checked against vendor pricing pages; Tableau+ is quote-only.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200400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 used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Pro / PPU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$14 / $24 per user per month, paid yearly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microsoft.com - Power BI 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Fabric F64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$8,409.60/mo PAYG; $5,002.67/mo 1-yr reserved (US)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azure.microsoft.com - Fabric 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Premium P1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$4,995/mo; no new P SKU sales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learn.microsoft.com - Premium migration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Legacy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Copilot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Paid Fabric F2+ or P1+ capacity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learn.microsoft.com - Copilot enablement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Standard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$75 Creator / $42 Explorer / $15 Viewer (Cloud and Server)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tableau.com/pricing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Enterprise / Tableau+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$115 / $70 / $35 Enterprise used as Tableau+ floor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tableau.com/pricing/cloud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Quote-only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Cloud hosting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Salesforce Hyperforce on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 migration blog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Amazon QuickSight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$24 Author / $40 Author Pro / $3 Reader / $20 Reader Pro / $250 account fee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aws.amazon.com/quick/quicksight/pricing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Snowflake credits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 Standard / $3 Enterprise / $4 Business Critical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snowflake.com pricing guide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Snowflake 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$90/TB to other cloud; no egress on driver query results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docs.snowflake.com - data 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A3. Licensing breakdown at baseline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25 developers + 25 explorers + 500 consumers; annual USD.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05840"/>
                <a:gridCol w="1005840"/>
                <a:gridCol w="1005840"/>
                <a:gridCol w="1234440"/>
                <a:gridCol w="1143000"/>
                <a:gridCol w="27706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Licensing model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Developers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Explorers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Consumers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Capacity / account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total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 Pro - all named users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$92,400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Shared capacity; no Copilot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 PPU - all named users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$144,000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$158,400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Premium features per user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Reserved + Pro authors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$60,032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$68,432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Recommended Power BI model at 500 consumers; Copilot uses capacity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PAYG + Pro authors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$100,915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$109,315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Flexible, ~68% dearer than reserved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Premium P1 + Pro authors (legacy)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$59,940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$68,340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Legacy reference - no new P SKU purchases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Standard role-based (Cloud or Server)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$22,500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$12,600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$125,100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Same list price for Cloud and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Tableau+ AI tier (planning floor)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$34,500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$21,000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$210,000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$265,500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Quote-only; Enterprise list used as floor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Standard - Author + Reader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$32,400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Explorers licensed as Authors (like-for-like)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Author Pro + Reader (AI)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Generative BI for authors + $250/month account fee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full Pro - Author Pro + Reader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$147,000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Reference only - not in TCO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Break-evens: F64 Reserved vs Pro ~357 consumers; F64 PAYG vs Pro ~601; PPU vs F64 Reserved + Pro ~238 named users.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A4. Architecture and operations derivation (baseline)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Transfer = TB x 1,000 x 12 x $/GB x factor; base Snowflake = credits x 12 x $3.00.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051560"/>
                <a:gridCol w="1143000"/>
                <a:gridCol w="1188720"/>
                <a:gridCol w="1097280"/>
                <a:gridCol w="1188720"/>
                <a:gridCol w="112471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Alignment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Incr. compute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Gateway / server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Snowflake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Annual total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$5,400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Cloud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 (AWS)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$25,000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Cloud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$4,050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$9,000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Server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Server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QuickSight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$15,000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$10,080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QuickSight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$6,210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$13,800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$27,000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$10,080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65D"/>
                </a:solidFill>
              </a:rPr>
              <a:t>Cross-cloud premium = cross-cloud row minus same-cloud row: Power BI $33,400; Tableau Cloud $21,050 (Snowflake on Azure); QuickSight $32,010 (Snowflake on Azure); Tableau Server $0.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A5. Five-year TCO - all 20 configurations (baseline)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Gold = recommended Power BI model; rose = AI tiers. Rank across all 20.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31720"/>
                <a:gridCol w="1143000"/>
                <a:gridCol w="1188720"/>
                <a:gridCol w="1005840"/>
                <a:gridCol w="1143000"/>
                <a:gridCol w="1078992"/>
                <a:gridCol w="54864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arch &amp; ops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One-time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5-year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$1,438,000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$287,600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$1,768,000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$353,600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$68,432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$1,318,160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$263,632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$109,315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$1,522,576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$304,515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$68,340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$1,317,700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$263,540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$125,100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$1,504,500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$300,900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$265,500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$2,206,500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$441,300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$125,100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$1,754,500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$350,900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$1,137,400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$227,480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$1,200,400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$240,080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$1,271,000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$1,601,000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$320,200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$68,432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$1,151,160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$230,232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$109,315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$1,355,576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$271,115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$68,340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$1,150,700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$230,140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$125,100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$1,609,750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$321,950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$265,500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$2,311,750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$462,350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$125,100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$1,754,500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$350,900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$1,297,450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$259,490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$1,360,450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$272,090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A6. Total cost by scenario - all 20 configurations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Annual total = licensing + architecture &amp; operations; 5-yr TCO includes one-time migration and training.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87752"/>
                <a:gridCol w="1170432"/>
                <a:gridCol w="1170432"/>
                <a:gridCol w="1170432"/>
                <a:gridCol w="1170432"/>
                <a:gridCol w="1170432"/>
                <a:gridCol w="118872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5-yr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5-yr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5-yr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$70,440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$532,200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$102,840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$894,200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$156,600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$1,438,000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$84,840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$604,200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$137,040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$1,065,200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$1,768,000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$113,672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$748,360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$120,872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$984,360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$132,632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$1,318,160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$154,555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$952,776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$161,755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$1,188,776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$173,515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$1,522,576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$113,580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$747,900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$120,780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$983,900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$132,540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$1,317,700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$67,840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$526,200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$104,380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$924,900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$160,900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$1,504,500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$687,000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$178,300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$1,294,500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$301,300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$2,206,500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$117,840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$776,200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$154,380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$1,174,900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$210,900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$1,754,500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$34,440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$414,200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$44,160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$718,800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$57,480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$1,137,400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$41,280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$448,400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$53,880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$767,400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$1,200,400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$434,800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$78,680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$773,400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$123,200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$1,271,000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$65,360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$506,800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$112,880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$944,400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$189,200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$1,601,000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$94,192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$650,960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$96,712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$863,560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$99,232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$1,151,160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$135,075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$855,376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$137,595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$1,067,976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$140,115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$1,355,576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$94,100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$650,500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$96,620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$863,100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$99,140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$1,150,700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$78,450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$579,250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$118,500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$995,500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$181,950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$1,609,750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$110,610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$740,050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$192,420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$1,365,100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$322,350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$2,311,750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$117,840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$776,200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$154,380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$1,174,900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$210,900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$1,754,500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$50,442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$494,210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$65,544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$825,720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$89,490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$1,297,450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$57,282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$528,410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$75,264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$874,320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$102,090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$1,360,450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A7. Scenario breakdown - licensing vs arch &amp; ops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S1 = 100 / 10 / 10 users, 1 TB; S2 = 250 / 15 / 20, 2 TB; S3 = 500 / 25 / 25, 5 TB.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87752"/>
                <a:gridCol w="1170432"/>
                <a:gridCol w="1170432"/>
                <a:gridCol w="1170432"/>
                <a:gridCol w="1170432"/>
                <a:gridCol w="1170432"/>
                <a:gridCol w="118872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arch &amp; ops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arch &amp; ops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arch &amp; ops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$20,160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$47,880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$34,560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$82,080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$63,392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$65,912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$68,432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$104,275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$106,795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$109,315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$63,300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$65,820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$68,340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$32,040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$68,580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$125,100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$142,500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$265,500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$32,040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$68,580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$125,100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$9,360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$28,800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$20,160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$47,880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$34,560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$82,080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$63,392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$65,912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$68,432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$104,275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$106,795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$109,315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$63,300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$65,820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$68,340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$32,040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$46,410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$68,580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$49,920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$125,100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$46,410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$142,500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$49,920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$265,500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$32,040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$68,580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$125,100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$9,360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$41,082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$46,464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$41,082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$28,800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$46,464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A8. Cross-cloud premium and lever calculations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Power BI with Snowflake on AWS; inputs editable in the Cost Simulator (Cross-Cloud Premium sheet).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Annual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5 TB x 1,000 x 12 x $0.09/GB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$5,400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Incremental Snowflake compute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Expected-case assumption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 gateway cluster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Two-node EC2 gateway + monitoring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 operations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Network, security, support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Annual premium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$33,400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513832" cy="914400"/>
        </p:xfrm>
        <a:graphic>
          <a:graphicData uri="http://schemas.openxmlformats.org/drawingml/2006/table">
            <a:tbl>
              <a:tblPr/>
              <a:tblGrid>
                <a:gridCol w="2770632"/>
                <a:gridCol w="109728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Saving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Residual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Baseline premium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$33,400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1. Import + incremental refresh + aggregations (not DirectQuery)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80% traffic cut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$4,320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$29,080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2. Private path for residual traffic (Direct Connect / interconnect)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$0.02 per GB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$28,240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3. Snowflake workload tuning (result cache, aggregates, auto-suspend, right-sized BI warehouse)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50% compute cut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$22,240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Optimised (levers 1-3)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$11,160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$22,240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062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Billing note: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Snowflake does not apply egress charges when a client or driver retrieves query results across regions or clouds. Transfer cost arises from AWS-side network egress (EC2 gateway / NAT) when Power BI reads through a gateway in IDB's VPC - treat $0.09/GB as a conservative sensitivity.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B BI POV">
  <a:themeElements>
    <a:clrScheme name="IDB BI POV">
      <a:dk1>
        <a:srgbClr val="111827"/>
      </a:dk1>
      <a:lt1>
        <a:srgbClr val="FFFFFF"/>
      </a:lt1>
      <a:dk2>
        <a:srgbClr val="17365D"/>
      </a:dk2>
      <a:lt2>
        <a:srgbClr val="F3F6F9"/>
      </a:lt2>
      <a:accent1>
        <a:srgbClr val="0F6B78"/>
      </a:accent1>
      <a:accent2>
        <a:srgbClr val="1F4E78"/>
      </a:accent2>
      <a:accent3>
        <a:srgbClr val="7C3AED"/>
      </a:accent3>
      <a:accent4>
        <a:srgbClr val="F59E0B"/>
      </a:accent4>
      <a:accent5>
        <a:srgbClr val="15803D"/>
      </a:accent5>
      <a:accent6>
        <a:srgbClr val="B91C1C"/>
      </a:accent6>
      <a:hlink>
        <a:srgbClr val="0F6B78"/>
      </a:hlink>
      <a:folHlink>
        <a:srgbClr val="6B7280"/>
      </a:folHlink>
    </a:clrScheme>
    <a:fontScheme name="IDB BI POV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Ascendion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 Phase 2 - BI Platform Point of View</dc:title>
  <dc:subject>PptxGenJS Presentation</dc:subject>
  <dc:creator>PptxGenJS</dc:creator>
  <cp:lastModifiedBy>PptxGenJS</cp:lastModifiedBy>
  <cp:revision>1</cp:revision>
  <dcterms:created xsi:type="dcterms:W3CDTF">2026-10-23T09:25:28Z</dcterms:created>
  <dcterms:modified xsi:type="dcterms:W3CDTF">2026-10-23T09:25:28Z</dcterms:modified>
</cp:coreProperties>
</file>